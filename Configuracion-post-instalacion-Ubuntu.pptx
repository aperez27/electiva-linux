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3200" cy="1008013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0125" cy="123825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81000" cy="428625"/>
          </a:xfrm>
          <a:prstGeom prst="rect">
            <a:avLst/>
          </a:prstGeom>
          <a:solidFill>
            <a:srgbClr val="0C4F6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2260"/>
            <a:ext cx="12192000" cy="44574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5886450"/>
            <a:ext cx="1447800" cy="971550"/>
          </a:xfrm>
          <a:prstGeom prst="rect">
            <a:avLst/>
          </a:prstGeom>
          <a:solidFill>
            <a:srgbClr val="F5B5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4000" y="1124694"/>
            <a:ext cx="2508498" cy="523875"/>
          </a:xfrm>
          <a:prstGeom prst="roundRect">
            <a:avLst>
              <a:gd name="adj" fmla="val 21818"/>
            </a:avLst>
          </a:prstGeom>
          <a:solidFill>
            <a:srgbClr val="E7E6E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1238994"/>
            <a:ext cx="19750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GUÍA TÉCNICA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524000" y="2029569"/>
            <a:ext cx="5611749" cy="2719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867"/>
              </a:lnSpc>
              <a:buNone/>
            </a:pPr>
            <a:r>
              <a:rPr lang="en-US" sz="48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Configuración post-instalación de Ubuntu 26.04 LTS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1524000" y="4940052"/>
            <a:ext cx="523802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Puesta a punto paso a paso desde la terminal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524000" y="5797302"/>
            <a:ext cx="5611749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Angelmiro Quiroz Parra Ingeniero Informático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3684240"/>
            <a:ext cx="3238500" cy="295007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524000" y="1124694"/>
            <a:ext cx="1972866" cy="466725"/>
          </a:xfrm>
          <a:prstGeom prst="roundRect">
            <a:avLst>
              <a:gd name="adj" fmla="val 24490"/>
            </a:avLst>
          </a:prstGeom>
          <a:solidFill>
            <a:srgbClr val="E7E6E6"/>
          </a:solidFill>
          <a:ln/>
        </p:spPr>
      </p:sp>
      <p:sp>
        <p:nvSpPr>
          <p:cNvPr id="6" name="Text 1"/>
          <p:cNvSpPr/>
          <p:nvPr/>
        </p:nvSpPr>
        <p:spPr>
          <a:xfrm>
            <a:off x="1790700" y="1219944"/>
            <a:ext cx="15156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CONTENIDO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524000" y="1820019"/>
            <a:ext cx="100584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Seis etapas de configuración</a:t>
            </a:r>
            <a:endParaRPr lang="en-US" sz="4350" dirty="0"/>
          </a:p>
        </p:txBody>
      </p:sp>
      <p:sp>
        <p:nvSpPr>
          <p:cNvPr id="8" name="Text 3"/>
          <p:cNvSpPr/>
          <p:nvPr/>
        </p:nvSpPr>
        <p:spPr>
          <a:xfrm>
            <a:off x="1470571" y="2732484"/>
            <a:ext cx="100771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00050" indent="-400050">
              <a:buSzPct val="100000"/>
              <a:buFont typeface="+mj-lt"/>
              <a:buAutoNum type="arabicPeriod" startAt="1"/>
              <a:tabLst>
                <a:tab pos="400050" algn="l"/>
              </a:tabLst>
            </a:pPr>
            <a:r>
              <a:rPr lang="en-US" sz="2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de repositorios y del sistema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1470571" y="3142059"/>
            <a:ext cx="100771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00050" indent="-400050">
              <a:buSzPct val="100000"/>
              <a:buFont typeface="+mj-lt"/>
              <a:buAutoNum type="arabicPeriod" startAt="2"/>
              <a:tabLst>
                <a:tab pos="400050" algn="l"/>
              </a:tabLst>
            </a:pPr>
            <a:r>
              <a:rPr lang="en-US" sz="2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lingüístico y localización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1470571" y="3551634"/>
            <a:ext cx="100771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00050" indent="-400050">
              <a:buSzPct val="100000"/>
              <a:buFont typeface="+mj-lt"/>
              <a:buAutoNum type="arabicPeriod" startAt="3"/>
              <a:tabLst>
                <a:tab pos="400050" algn="l"/>
              </a:tabLst>
            </a:pPr>
            <a:r>
              <a:rPr lang="en-US" sz="2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Códecs multimedia y controladores de hardware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1470571" y="3961209"/>
            <a:ext cx="100771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00050" indent="-400050">
              <a:buSzPct val="100000"/>
              <a:buFont typeface="+mj-lt"/>
              <a:buAutoNum type="arabicPeriod" startAt="4"/>
              <a:tabLst>
                <a:tab pos="400050" algn="l"/>
              </a:tabLst>
            </a:pPr>
            <a:r>
              <a:rPr lang="en-US" sz="2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multifuente: Snap, Flatpak y AppImage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470571" y="4370784"/>
            <a:ext cx="100771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00050" indent="-400050">
              <a:buSzPct val="100000"/>
              <a:buFont typeface="+mj-lt"/>
              <a:buAutoNum type="arabicPeriod" startAt="5"/>
              <a:tabLst>
                <a:tab pos="400050" algn="l"/>
              </a:tabLst>
            </a:pPr>
            <a:r>
              <a:rPr lang="en-US" sz="2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Endurecimiento: sudo y cortafuegos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1470571" y="4780359"/>
            <a:ext cx="100771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00050" indent="-400050">
              <a:buSzPct val="100000"/>
              <a:buFont typeface="+mj-lt"/>
              <a:buAutoNum type="arabicPeriod" startAt="6"/>
              <a:tabLst>
                <a:tab pos="400050" algn="l"/>
              </a:tabLst>
            </a:pPr>
            <a:r>
              <a:rPr lang="en-US" sz="2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Respaldo y resolución de problemas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3200" cy="1008013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0125" cy="123825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81000" cy="428625"/>
          </a:xfrm>
          <a:prstGeom prst="rect">
            <a:avLst/>
          </a:prstGeom>
          <a:solidFill>
            <a:srgbClr val="0C4F6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2260"/>
            <a:ext cx="12192000" cy="44574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5886450"/>
            <a:ext cx="1447800" cy="971550"/>
          </a:xfrm>
          <a:prstGeom prst="rect">
            <a:avLst/>
          </a:prstGeom>
          <a:solidFill>
            <a:srgbClr val="F5B5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4000" y="2337197"/>
            <a:ext cx="1651992" cy="523875"/>
          </a:xfrm>
          <a:prstGeom prst="roundRect">
            <a:avLst>
              <a:gd name="adj" fmla="val 21818"/>
            </a:avLst>
          </a:prstGeom>
          <a:solidFill>
            <a:srgbClr val="E7E6E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2451497"/>
            <a:ext cx="111859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ETAPA 1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524000" y="3089672"/>
            <a:ext cx="8385125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Sincronización de repositorios y del sistema</a:t>
            </a:r>
            <a:endParaRPr lang="en-US" sz="4350" dirty="0"/>
          </a:p>
        </p:txBody>
      </p:sp>
      <p:sp>
        <p:nvSpPr>
          <p:cNvPr id="11" name="Text 8"/>
          <p:cNvSpPr/>
          <p:nvPr/>
        </p:nvSpPr>
        <p:spPr>
          <a:xfrm>
            <a:off x="1524000" y="4533602"/>
            <a:ext cx="58927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Prerrequisito obligatorio antes de cualquier otra configuración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Actualizar el sistema</a:t>
            </a:r>
            <a:endParaRPr lang="en-US" sz="3900" dirty="0"/>
          </a:p>
        </p:txBody>
      </p:sp>
      <p:sp>
        <p:nvSpPr>
          <p:cNvPr id="6" name="Shape 1"/>
          <p:cNvSpPr/>
          <p:nvPr/>
        </p:nvSpPr>
        <p:spPr>
          <a:xfrm>
            <a:off x="1524000" y="2217093"/>
            <a:ext cx="722709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255193"/>
            <a:ext cx="5322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2399109" y="2050405"/>
            <a:ext cx="8268891" cy="590550"/>
          </a:xfrm>
          <a:prstGeom prst="roundRect">
            <a:avLst>
              <a:gd name="adj" fmla="val 19355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637234" y="2193280"/>
            <a:ext cx="80407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2025" dirty="0"/>
          </a:p>
        </p:txBody>
      </p:sp>
      <p:sp>
        <p:nvSpPr>
          <p:cNvPr id="10" name="Text 5"/>
          <p:cNvSpPr/>
          <p:nvPr/>
        </p:nvSpPr>
        <p:spPr>
          <a:xfrm>
            <a:off x="1524000" y="2755255"/>
            <a:ext cx="94183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</a:t>
            </a:r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la orden con privilegios de administrador; </a:t>
            </a:r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 update </a:t>
            </a:r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los índices de los repositorios para conocer las versiones más recientes. No instala nada todavía.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1524000" y="3820864"/>
            <a:ext cx="734616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12" name="Text 7"/>
          <p:cNvSpPr/>
          <p:nvPr/>
        </p:nvSpPr>
        <p:spPr>
          <a:xfrm>
            <a:off x="1657350" y="3858964"/>
            <a:ext cx="5441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411016" y="3654177"/>
            <a:ext cx="8256984" cy="590550"/>
          </a:xfrm>
          <a:prstGeom prst="roundRect">
            <a:avLst>
              <a:gd name="adj" fmla="val 19355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649141" y="3797052"/>
            <a:ext cx="80284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upgrade</a:t>
            </a:r>
            <a:endParaRPr lang="en-US" sz="2025" dirty="0"/>
          </a:p>
        </p:txBody>
      </p:sp>
      <p:sp>
        <p:nvSpPr>
          <p:cNvPr id="15" name="Text 10"/>
          <p:cNvSpPr/>
          <p:nvPr/>
        </p:nvSpPr>
        <p:spPr>
          <a:xfrm>
            <a:off x="1524000" y="4359027"/>
            <a:ext cx="94183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 upgrade </a:t>
            </a:r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 las versiones nuevas de los paquetes pendientes, incluidos los parches de seguridad de Canonical. Se confirma con Enter o con la tecla S.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Encadenar, limpiar y ajustar el reloj</a:t>
            </a:r>
            <a:endParaRPr lang="en-US" sz="3900" dirty="0"/>
          </a:p>
        </p:txBody>
      </p:sp>
      <p:sp>
        <p:nvSpPr>
          <p:cNvPr id="6" name="Shape 1"/>
          <p:cNvSpPr/>
          <p:nvPr/>
        </p:nvSpPr>
        <p:spPr>
          <a:xfrm>
            <a:off x="1524000" y="2102793"/>
            <a:ext cx="734616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140893"/>
            <a:ext cx="5441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3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2411016" y="2012305"/>
            <a:ext cx="8256984" cy="438150"/>
          </a:xfrm>
          <a:prstGeom prst="roundRect">
            <a:avLst>
              <a:gd name="adj" fmla="val 26087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649141" y="2117080"/>
            <a:ext cx="80284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 &amp;&amp; sudo apt upgrade -y &amp;&amp; sudo apt autoremove</a:t>
            </a:r>
            <a:endParaRPr lang="en-US" sz="1575" dirty="0"/>
          </a:p>
        </p:txBody>
      </p:sp>
      <p:sp>
        <p:nvSpPr>
          <p:cNvPr id="10" name="Text 5"/>
          <p:cNvSpPr/>
          <p:nvPr/>
        </p:nvSpPr>
        <p:spPr>
          <a:xfrm>
            <a:off x="1524000" y="2526655"/>
            <a:ext cx="941832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&amp;&amp;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la orden siguiente solo si la anterior terminó sin error;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-y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«sí» automáticamente;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autoremove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paquetes obsoletos y dependencias huérfanas.</a:t>
            </a:r>
            <a:endParaRPr lang="en-US" sz="1650" dirty="0"/>
          </a:p>
        </p:txBody>
      </p:sp>
      <p:sp>
        <p:nvSpPr>
          <p:cNvPr id="11" name="Shape 6"/>
          <p:cNvSpPr/>
          <p:nvPr/>
        </p:nvSpPr>
        <p:spPr>
          <a:xfrm>
            <a:off x="1524000" y="3447604"/>
            <a:ext cx="1298972" cy="257175"/>
          </a:xfrm>
          <a:prstGeom prst="roundRect">
            <a:avLst>
              <a:gd name="adj" fmla="val 50000"/>
            </a:avLst>
          </a:prstGeom>
          <a:solidFill>
            <a:srgbClr val="F5B53C"/>
          </a:solidFill>
          <a:ln/>
        </p:spPr>
      </p:sp>
      <p:sp>
        <p:nvSpPr>
          <p:cNvPr id="12" name="Text 7"/>
          <p:cNvSpPr/>
          <p:nvPr/>
        </p:nvSpPr>
        <p:spPr>
          <a:xfrm>
            <a:off x="1657350" y="3485704"/>
            <a:ext cx="110847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Arranque dual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975372" y="3338066"/>
            <a:ext cx="7692628" cy="476250"/>
          </a:xfrm>
          <a:prstGeom prst="roundRect">
            <a:avLst>
              <a:gd name="adj" fmla="val 24000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213497" y="3442841"/>
            <a:ext cx="74471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timedatectl set-local-rtc 1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524000" y="3890516"/>
            <a:ext cx="941832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 que Ubuntu lea el reloj del hardware en hora local, como Windows, y corrige el desfase horario entre ambos sistemas (UTC frente a hora local).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1524000" y="6165205"/>
            <a:ext cx="50603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documentación oficial de Ubuntu Desktop, Canonical, 2026.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524000" y="2208461"/>
            <a:ext cx="9144000" cy="304442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" name="Shape 1"/>
          <p:cNvSpPr/>
          <p:nvPr/>
        </p:nvSpPr>
        <p:spPr>
          <a:xfrm>
            <a:off x="1524000" y="2208461"/>
            <a:ext cx="57150" cy="3044428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7" name="Text 2"/>
          <p:cNvSpPr/>
          <p:nvPr/>
        </p:nvSpPr>
        <p:spPr>
          <a:xfrm>
            <a:off x="1962150" y="2618036"/>
            <a:ext cx="8353240" cy="180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524"/>
              </a:lnSpc>
              <a:buNone/>
            </a:pPr>
            <a:r>
              <a:rPr lang="en-US" sz="2775" i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Omitir la sincronización inicial genera deuda técnica inmediata: la diferencia entre los metadatos locales y los servidores remotos deriva en conflictos de dependencias.</a:t>
            </a:r>
            <a:endParaRPr lang="en-US" sz="2775" dirty="0"/>
          </a:p>
        </p:txBody>
      </p:sp>
      <p:sp>
        <p:nvSpPr>
          <p:cNvPr id="8" name="Text 3"/>
          <p:cNvSpPr/>
          <p:nvPr/>
        </p:nvSpPr>
        <p:spPr>
          <a:xfrm>
            <a:off x="1962150" y="4574232"/>
            <a:ext cx="9157335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10"/>
              </a:lnSpc>
              <a:buNone/>
            </a:pPr>
            <a:r>
              <a:rPr lang="en-US" sz="1804" b="1" dirty="0">
                <a:solidFill>
                  <a:srgbClr val="4454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Guía de puesta a punto profesional · Ubuntu 26.04 LTS</a:t>
            </a:r>
            <a:endParaRPr lang="en-US" sz="1804" dirty="0"/>
          </a:p>
        </p:txBody>
      </p:sp>
      <p:sp>
        <p:nvSpPr>
          <p:cNvPr id="9" name="Text 4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3200" cy="1008013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0125" cy="123825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81000" cy="428625"/>
          </a:xfrm>
          <a:prstGeom prst="rect">
            <a:avLst/>
          </a:prstGeom>
          <a:solidFill>
            <a:srgbClr val="0C4F6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2260"/>
            <a:ext cx="12192000" cy="44574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5886450"/>
            <a:ext cx="1447800" cy="971550"/>
          </a:xfrm>
          <a:prstGeom prst="rect">
            <a:avLst/>
          </a:prstGeom>
          <a:solidFill>
            <a:srgbClr val="F5B5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4000" y="2337197"/>
            <a:ext cx="1670000" cy="523875"/>
          </a:xfrm>
          <a:prstGeom prst="roundRect">
            <a:avLst>
              <a:gd name="adj" fmla="val 21818"/>
            </a:avLst>
          </a:prstGeom>
          <a:solidFill>
            <a:srgbClr val="E7E6E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2451497"/>
            <a:ext cx="1136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ETAPA 2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524000" y="3089672"/>
            <a:ext cx="8385125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Soporte lingüístico y localización</a:t>
            </a:r>
            <a:endParaRPr lang="en-US" sz="4350" dirty="0"/>
          </a:p>
        </p:txBody>
      </p:sp>
      <p:sp>
        <p:nvSpPr>
          <p:cNvPr id="11" name="Text 8"/>
          <p:cNvSpPr/>
          <p:nvPr/>
        </p:nvSpPr>
        <p:spPr>
          <a:xfrm>
            <a:off x="1524000" y="4533602"/>
            <a:ext cx="58927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Idioma, corrección ortográfica y formatos regionales de fecha y moneda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Completar el soporte de idiomas</a:t>
            </a:r>
            <a:endParaRPr lang="en-US" sz="3900" dirty="0"/>
          </a:p>
        </p:txBody>
      </p:sp>
      <p:sp>
        <p:nvSpPr>
          <p:cNvPr id="6" name="Text 1"/>
          <p:cNvSpPr/>
          <p:nvPr/>
        </p:nvSpPr>
        <p:spPr>
          <a:xfrm>
            <a:off x="1524000" y="1821805"/>
            <a:ext cx="10058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Procedimiento gráfico: no requiere comandos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470571" y="2393305"/>
            <a:ext cx="1007716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00050" indent="-400050">
              <a:lnSpc>
                <a:spcPct val="110303"/>
              </a:lnSpc>
              <a:buSzPct val="100000"/>
              <a:buFont typeface="+mj-lt"/>
              <a:buAutoNum type="arabicPeriod" startAt="1"/>
              <a:tabLst>
                <a:tab pos="400050" algn="l"/>
              </a:tabLst>
            </a:pPr>
            <a:r>
              <a:rPr lang="en-US" sz="2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la utilidad Soporte de idiomas desde el menú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1470571" y="2873276"/>
            <a:ext cx="1007716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00050" indent="-400050">
              <a:lnSpc>
                <a:spcPct val="110303"/>
              </a:lnSpc>
              <a:buSzPct val="100000"/>
              <a:buFont typeface="+mj-lt"/>
              <a:buAutoNum type="arabicPeriod" startAt="2"/>
              <a:tabLst>
                <a:tab pos="400050" algn="l"/>
              </a:tabLst>
            </a:pPr>
            <a:r>
              <a:rPr lang="en-US" sz="2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Dejar que el sistema compruebe los componentes faltantes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1470571" y="3353246"/>
            <a:ext cx="1007716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00050" indent="-400050">
              <a:lnSpc>
                <a:spcPct val="110303"/>
              </a:lnSpc>
              <a:buSzPct val="100000"/>
              <a:buFont typeface="+mj-lt"/>
              <a:buAutoNum type="arabicPeriod" startAt="3"/>
              <a:tabLst>
                <a:tab pos="400050" algn="l"/>
              </a:tabLst>
            </a:pPr>
            <a:r>
              <a:rPr lang="en-US" sz="2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Descargar e instalar los paquetes sugeridos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1470571" y="3833217"/>
            <a:ext cx="946135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400050" indent="-400050">
              <a:lnSpc>
                <a:spcPct val="110303"/>
              </a:lnSpc>
              <a:buSzPct val="100000"/>
              <a:buFont typeface="+mj-lt"/>
              <a:buAutoNum type="arabicPeriod" startAt="4"/>
            </a:pPr>
            <a:r>
              <a:rPr lang="en-US" sz="2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Pulsar </a:t>
            </a:r>
            <a:pPr algn="l" indent="0" marL="0">
              <a:lnSpc>
                <a:spcPct val="110303"/>
              </a:lnSpc>
              <a:buNone/>
            </a:pPr>
            <a:r>
              <a:rPr lang="en-US" sz="2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«Aplicar a todo el sistema» </a:t>
            </a:r>
            <a:pPr algn="l" indent="0" marL="0">
              <a:lnSpc>
                <a:spcPct val="110303"/>
              </a:lnSpc>
              <a:buNone/>
            </a:pPr>
            <a:r>
              <a:rPr lang="en-US" sz="2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el idioma llegue también a la pantalla de inicio de sesión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1524000" y="5898505"/>
            <a:ext cx="654744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instalación incompleta deja una interfaz híbrida y provoca errores en scripts que dependen de formatos de fecha o moneda.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3200" cy="1008013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0125" cy="123825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81000" cy="428625"/>
          </a:xfrm>
          <a:prstGeom prst="rect">
            <a:avLst/>
          </a:prstGeom>
          <a:solidFill>
            <a:srgbClr val="0C4F6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2260"/>
            <a:ext cx="12192000" cy="44574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5886450"/>
            <a:ext cx="1447800" cy="971550"/>
          </a:xfrm>
          <a:prstGeom prst="rect">
            <a:avLst/>
          </a:prstGeom>
          <a:solidFill>
            <a:srgbClr val="F5B5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4000" y="2337197"/>
            <a:ext cx="1668363" cy="523875"/>
          </a:xfrm>
          <a:prstGeom prst="roundRect">
            <a:avLst>
              <a:gd name="adj" fmla="val 21818"/>
            </a:avLst>
          </a:prstGeom>
          <a:solidFill>
            <a:srgbClr val="E7E6E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2451497"/>
            <a:ext cx="11349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ETAPA 3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524000" y="3089672"/>
            <a:ext cx="8385125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Códecs multimedia y controladores de hardware</a:t>
            </a:r>
            <a:endParaRPr lang="en-US" sz="4350" dirty="0"/>
          </a:p>
        </p:txBody>
      </p:sp>
      <p:sp>
        <p:nvSpPr>
          <p:cNvPr id="11" name="Text 8"/>
          <p:cNvSpPr/>
          <p:nvPr/>
        </p:nvSpPr>
        <p:spPr>
          <a:xfrm>
            <a:off x="1524000" y="4533602"/>
            <a:ext cx="58927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privativos que no vienen en la instalación base por restricciones de licencia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11644015" y="6549479"/>
            <a:ext cx="1610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Instalar los códecs multimedia</a:t>
            </a:r>
            <a:endParaRPr lang="en-US" sz="3900" dirty="0"/>
          </a:p>
        </p:txBody>
      </p:sp>
      <p:sp>
        <p:nvSpPr>
          <p:cNvPr id="6" name="Shape 1"/>
          <p:cNvSpPr/>
          <p:nvPr/>
        </p:nvSpPr>
        <p:spPr>
          <a:xfrm>
            <a:off x="1524000" y="2050405"/>
            <a:ext cx="9144000" cy="590550"/>
          </a:xfrm>
          <a:prstGeom prst="roundRect">
            <a:avLst>
              <a:gd name="adj" fmla="val 19355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1762125" y="2193280"/>
            <a:ext cx="89420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ubuntu-restricted-extras</a:t>
            </a:r>
            <a:endParaRPr lang="en-US" sz="2025" dirty="0"/>
          </a:p>
        </p:txBody>
      </p:sp>
      <p:sp>
        <p:nvSpPr>
          <p:cNvPr id="8" name="Text 3"/>
          <p:cNvSpPr/>
          <p:nvPr/>
        </p:nvSpPr>
        <p:spPr>
          <a:xfrm>
            <a:off x="1524000" y="2755255"/>
            <a:ext cx="94183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 install </a:t>
            </a:r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e instala el metapaquete </a:t>
            </a:r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ubuntu-restricted-extras </a:t>
            </a:r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agrupa códecs de audio y vídeo (H.264, MP3) y fuentes tipográficas estándar para documentos.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615351" y="3654177"/>
            <a:ext cx="994191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11429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la contraseña de administrador y confirmación con Enter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615351" y="4046488"/>
            <a:ext cx="994191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11429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la instalación se aceptan los términos de licencia de las fuentes de Microsoft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615351" y="4438799"/>
            <a:ext cx="9319428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11429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se marcó «software de terceros» al instalar Ubuntu, solo completa las librerías que falten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9418320" cy="1127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Gestionar controladores desde la terminal</a:t>
            </a:r>
            <a:endParaRPr lang="en-US" sz="3900" dirty="0"/>
          </a:p>
        </p:txBody>
      </p:sp>
      <p:sp>
        <p:nvSpPr>
          <p:cNvPr id="6" name="Text 1"/>
          <p:cNvSpPr/>
          <p:nvPr/>
        </p:nvSpPr>
        <p:spPr>
          <a:xfrm>
            <a:off x="1524000" y="2328416"/>
            <a:ext cx="10058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26.04 retiró la pestaña gráfica «Controladores adicionales»</a:t>
            </a:r>
            <a:endParaRPr lang="en-US" sz="1650" dirty="0"/>
          </a:p>
        </p:txBody>
      </p:sp>
      <p:sp>
        <p:nvSpPr>
          <p:cNvPr id="7" name="Shape 2"/>
          <p:cNvSpPr/>
          <p:nvPr/>
        </p:nvSpPr>
        <p:spPr>
          <a:xfrm>
            <a:off x="1524000" y="2985641"/>
            <a:ext cx="666155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8" name="Text 3"/>
          <p:cNvSpPr/>
          <p:nvPr/>
        </p:nvSpPr>
        <p:spPr>
          <a:xfrm>
            <a:off x="1657350" y="3023741"/>
            <a:ext cx="47565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Listar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2342555" y="2842766"/>
            <a:ext cx="8325445" cy="542925"/>
          </a:xfrm>
          <a:prstGeom prst="roundRect">
            <a:avLst>
              <a:gd name="adj" fmla="val 21053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2580680" y="2966591"/>
            <a:ext cx="80989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ubuntu-drivers devices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524000" y="3480941"/>
            <a:ext cx="94183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el hardware (GPU, Wi-Fi) y muestra los controladores certificados disponibles, marcando el recomendado.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1524000" y="4484638"/>
            <a:ext cx="804565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13" name="Text 8"/>
          <p:cNvSpPr/>
          <p:nvPr/>
        </p:nvSpPr>
        <p:spPr>
          <a:xfrm>
            <a:off x="1657350" y="4522738"/>
            <a:ext cx="61406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Instalar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480965" y="4341763"/>
            <a:ext cx="8187035" cy="542925"/>
          </a:xfrm>
          <a:prstGeom prst="roundRect">
            <a:avLst>
              <a:gd name="adj" fmla="val 21053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719090" y="4465588"/>
            <a:ext cx="79563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ubuntu-drivers install [nombre_del_driver]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1524000" y="4979938"/>
            <a:ext cx="94183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 el controlador elegido. Se sustituye </a:t>
            </a:r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[nombre_del_driver] </a:t>
            </a:r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el nombre exacto que arrojó el comando anterior.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3200" cy="1008013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0125" cy="123825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81000" cy="428625"/>
          </a:xfrm>
          <a:prstGeom prst="rect">
            <a:avLst/>
          </a:prstGeom>
          <a:solidFill>
            <a:srgbClr val="0C4F6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2260"/>
            <a:ext cx="12192000" cy="44574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5886450"/>
            <a:ext cx="1447800" cy="971550"/>
          </a:xfrm>
          <a:prstGeom prst="rect">
            <a:avLst/>
          </a:prstGeom>
          <a:solidFill>
            <a:srgbClr val="F5B5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4000" y="2337197"/>
            <a:ext cx="1671786" cy="523875"/>
          </a:xfrm>
          <a:prstGeom prst="roundRect">
            <a:avLst>
              <a:gd name="adj" fmla="val 21818"/>
            </a:avLst>
          </a:prstGeom>
          <a:solidFill>
            <a:srgbClr val="E7E6E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2451497"/>
            <a:ext cx="11383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ETAPA 4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524000" y="3089672"/>
            <a:ext cx="8385125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Software multifuente: Snap, Flatpak y AppImage</a:t>
            </a:r>
            <a:endParaRPr lang="en-US" sz="4350" dirty="0"/>
          </a:p>
        </p:txBody>
      </p:sp>
      <p:sp>
        <p:nvSpPr>
          <p:cNvPr id="11" name="Text 8"/>
          <p:cNvSpPr/>
          <p:nvPr/>
        </p:nvSpPr>
        <p:spPr>
          <a:xfrm>
            <a:off x="1524000" y="4533602"/>
            <a:ext cx="58927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Varios formatos de paquete administrados desde una sola tienda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Tres piezas del ecosistema</a:t>
            </a:r>
            <a:endParaRPr lang="en-US" sz="3900" dirty="0"/>
          </a:p>
        </p:txBody>
      </p:sp>
      <p:sp>
        <p:nvSpPr>
          <p:cNvPr id="6" name="Shape 1"/>
          <p:cNvSpPr/>
          <p:nvPr/>
        </p:nvSpPr>
        <p:spPr>
          <a:xfrm>
            <a:off x="1524000" y="2050405"/>
            <a:ext cx="2895600" cy="2434233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7" name="Text 2"/>
          <p:cNvSpPr/>
          <p:nvPr/>
        </p:nvSpPr>
        <p:spPr>
          <a:xfrm>
            <a:off x="1762125" y="2288530"/>
            <a:ext cx="266128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03"/>
              </a:lnSpc>
              <a:buNone/>
            </a:pPr>
            <a:r>
              <a:rPr lang="en-US" sz="2100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GNOME Software</a:t>
            </a:r>
            <a:endParaRPr lang="en-US" sz="2100" dirty="0"/>
          </a:p>
        </p:txBody>
      </p:sp>
      <p:sp>
        <p:nvSpPr>
          <p:cNvPr id="8" name="Shape 3"/>
          <p:cNvSpPr/>
          <p:nvPr/>
        </p:nvSpPr>
        <p:spPr>
          <a:xfrm>
            <a:off x="1762125" y="2768501"/>
            <a:ext cx="762298" cy="274290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1895475" y="2806601"/>
            <a:ext cx="571798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74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Tienda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762125" y="3166616"/>
            <a:ext cx="2382738" cy="82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Reúne paquetes .deb, Snaps y Flatpaks en una sola interfaz gráfica.</a:t>
            </a:r>
            <a:endParaRPr lang="en-US" sz="1650" dirty="0"/>
          </a:p>
        </p:txBody>
      </p:sp>
      <p:sp>
        <p:nvSpPr>
          <p:cNvPr id="11" name="Shape 6"/>
          <p:cNvSpPr/>
          <p:nvPr/>
        </p:nvSpPr>
        <p:spPr>
          <a:xfrm>
            <a:off x="4648200" y="2050405"/>
            <a:ext cx="2895600" cy="2434233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4886325" y="2288530"/>
            <a:ext cx="266128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03"/>
              </a:lnSpc>
              <a:buNone/>
            </a:pPr>
            <a:r>
              <a:rPr lang="en-US" sz="2100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Flatpak</a:t>
            </a:r>
            <a:endParaRPr lang="en-US" sz="2100" dirty="0"/>
          </a:p>
        </p:txBody>
      </p:sp>
      <p:sp>
        <p:nvSpPr>
          <p:cNvPr id="13" name="Shape 8"/>
          <p:cNvSpPr/>
          <p:nvPr/>
        </p:nvSpPr>
        <p:spPr>
          <a:xfrm>
            <a:off x="4886325" y="2768501"/>
            <a:ext cx="802035" cy="274290"/>
          </a:xfrm>
          <a:prstGeom prst="roundRect">
            <a:avLst>
              <a:gd name="adj" fmla="val 50000"/>
            </a:avLst>
          </a:prstGeom>
          <a:solidFill>
            <a:srgbClr val="F5B53C"/>
          </a:solidFill>
          <a:ln/>
        </p:spPr>
      </p:sp>
      <p:sp>
        <p:nvSpPr>
          <p:cNvPr id="14" name="Text 9"/>
          <p:cNvSpPr/>
          <p:nvPr/>
        </p:nvSpPr>
        <p:spPr>
          <a:xfrm>
            <a:off x="5019675" y="2806601"/>
            <a:ext cx="611535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74"/>
              </a:lnSpc>
              <a:buNone/>
            </a:pPr>
            <a:r>
              <a:rPr lang="en-US" sz="120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Aislado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886325" y="3166616"/>
            <a:ext cx="2242840" cy="82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aisladas y actualizadas desde el catálogo de Flathub.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7772400" y="2050405"/>
            <a:ext cx="2895600" cy="2434233"/>
          </a:xfrm>
          <a:prstGeom prst="roundRect">
            <a:avLst>
              <a:gd name="adj" fmla="val 4696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010525" y="2288530"/>
            <a:ext cx="2661285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03"/>
              </a:lnSpc>
              <a:buNone/>
            </a:pPr>
            <a:r>
              <a:rPr lang="en-US" sz="2100" b="1" dirty="0">
                <a:solidFill>
                  <a:srgbClr val="2585B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AppImage</a:t>
            </a:r>
            <a:endParaRPr lang="en-US" sz="2100" dirty="0"/>
          </a:p>
        </p:txBody>
      </p:sp>
      <p:sp>
        <p:nvSpPr>
          <p:cNvPr id="18" name="Shape 13"/>
          <p:cNvSpPr/>
          <p:nvPr/>
        </p:nvSpPr>
        <p:spPr>
          <a:xfrm>
            <a:off x="8010525" y="2768501"/>
            <a:ext cx="882997" cy="274290"/>
          </a:xfrm>
          <a:prstGeom prst="roundRect">
            <a:avLst>
              <a:gd name="adj" fmla="val 50000"/>
            </a:avLst>
          </a:prstGeom>
          <a:solidFill>
            <a:srgbClr val="F5B53C"/>
          </a:solidFill>
          <a:ln/>
        </p:spPr>
      </p:sp>
      <p:sp>
        <p:nvSpPr>
          <p:cNvPr id="19" name="Text 14"/>
          <p:cNvSpPr/>
          <p:nvPr/>
        </p:nvSpPr>
        <p:spPr>
          <a:xfrm>
            <a:off x="8143875" y="2806601"/>
            <a:ext cx="692497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74"/>
              </a:lnSpc>
              <a:buNone/>
            </a:pPr>
            <a:r>
              <a:rPr lang="en-US" sz="120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Portable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010525" y="3166616"/>
            <a:ext cx="1893391" cy="1093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único archivo ejecutable que no requiere instalación tradicional.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Instalar la tienda y Flatpak</a:t>
            </a:r>
            <a:endParaRPr lang="en-US" sz="3900" dirty="0"/>
          </a:p>
        </p:txBody>
      </p:sp>
      <p:sp>
        <p:nvSpPr>
          <p:cNvPr id="6" name="Shape 1"/>
          <p:cNvSpPr/>
          <p:nvPr/>
        </p:nvSpPr>
        <p:spPr>
          <a:xfrm>
            <a:off x="1524000" y="2327523"/>
            <a:ext cx="722709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365623"/>
            <a:ext cx="5322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2399109" y="2012305"/>
            <a:ext cx="8268891" cy="887611"/>
          </a:xfrm>
          <a:prstGeom prst="roundRect">
            <a:avLst>
              <a:gd name="adj" fmla="val 12877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637234" y="2136130"/>
            <a:ext cx="8040707" cy="6780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gnome-software \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gnome-software-plugin-snap gnome-software-plugin-flatpak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524000" y="2995166"/>
            <a:ext cx="94183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 GNOME Software y sus </a:t>
            </a:r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</a:t>
            </a:r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mostrar Snaps y Flatpaks en la tienda. La barra </a:t>
            </a:r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\ </a:t>
            </a:r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continúa la orden en la línea siguiente.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1524000" y="3984575"/>
            <a:ext cx="734616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12" name="Text 7"/>
          <p:cNvSpPr/>
          <p:nvPr/>
        </p:nvSpPr>
        <p:spPr>
          <a:xfrm>
            <a:off x="1657350" y="4022675"/>
            <a:ext cx="5441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411016" y="3855988"/>
            <a:ext cx="8256984" cy="514350"/>
          </a:xfrm>
          <a:prstGeom prst="roundRect">
            <a:avLst>
              <a:gd name="adj" fmla="val 22222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649141" y="3979813"/>
            <a:ext cx="80284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flatpak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524000" y="4465588"/>
            <a:ext cx="94183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 el motor de ejecución Flatpak, necesario para descargar y correr aplicaciones en ese formato.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Añadir Flathub y reiniciar</a:t>
            </a:r>
            <a:endParaRPr lang="en-US" sz="3900" dirty="0"/>
          </a:p>
        </p:txBody>
      </p:sp>
      <p:sp>
        <p:nvSpPr>
          <p:cNvPr id="6" name="Shape 1"/>
          <p:cNvSpPr/>
          <p:nvPr/>
        </p:nvSpPr>
        <p:spPr>
          <a:xfrm>
            <a:off x="1524000" y="2327523"/>
            <a:ext cx="734616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365623"/>
            <a:ext cx="5441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3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2411016" y="2012305"/>
            <a:ext cx="8256984" cy="887611"/>
          </a:xfrm>
          <a:prstGeom prst="roundRect">
            <a:avLst>
              <a:gd name="adj" fmla="val 12877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649141" y="2136130"/>
            <a:ext cx="8028444" cy="6780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flatpak remote-add --if-not-exists flathub \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https://dl.flathub.org/repo/flathub.flatpakrepo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524000" y="2995166"/>
            <a:ext cx="94183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remote-add </a:t>
            </a:r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Flathub como fuente de aplicaciones; </a:t>
            </a:r>
            <a:pPr algn="l" indent="0" marL="0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--if-not-exists </a:t>
            </a:r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un error si el repositorio ya estaba añadido.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1524000" y="3984575"/>
            <a:ext cx="1073200" cy="257175"/>
          </a:xfrm>
          <a:prstGeom prst="roundRect">
            <a:avLst>
              <a:gd name="adj" fmla="val 50000"/>
            </a:avLst>
          </a:prstGeom>
          <a:solidFill>
            <a:srgbClr val="F5B53C"/>
          </a:solidFill>
          <a:ln/>
        </p:spPr>
      </p:sp>
      <p:sp>
        <p:nvSpPr>
          <p:cNvPr id="12" name="Text 7"/>
          <p:cNvSpPr/>
          <p:nvPr/>
        </p:nvSpPr>
        <p:spPr>
          <a:xfrm>
            <a:off x="1657350" y="4022675"/>
            <a:ext cx="8827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Obligatorio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749600" y="3855988"/>
            <a:ext cx="7918400" cy="514350"/>
          </a:xfrm>
          <a:prstGeom prst="roundRect">
            <a:avLst>
              <a:gd name="adj" fmla="val 22222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987725" y="3979813"/>
            <a:ext cx="76797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reboot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524000" y="4465588"/>
            <a:ext cx="9418320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429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Reinicia el equipo para cargar las variables de entorno y que las aplicaciones Flatpak aparezcan en la tienda.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Habilitar y ejecutar AppImage</a:t>
            </a:r>
            <a:endParaRPr lang="en-US" sz="3900" dirty="0"/>
          </a:p>
        </p:txBody>
      </p:sp>
      <p:sp>
        <p:nvSpPr>
          <p:cNvPr id="6" name="Shape 1"/>
          <p:cNvSpPr/>
          <p:nvPr/>
        </p:nvSpPr>
        <p:spPr>
          <a:xfrm>
            <a:off x="1524000" y="2083743"/>
            <a:ext cx="722709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121843"/>
            <a:ext cx="5322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2399109" y="1974205"/>
            <a:ext cx="8268891" cy="476250"/>
          </a:xfrm>
          <a:prstGeom prst="roundRect">
            <a:avLst>
              <a:gd name="adj" fmla="val 24000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637234" y="2078980"/>
            <a:ext cx="8040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libfuse2t64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524000" y="2526655"/>
            <a:ext cx="100584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 la librería de compatibilidad FUSE que las AppImage necesitan para montarse y arrancar.</a:t>
            </a:r>
            <a:endParaRPr lang="en-US" sz="1650" dirty="0"/>
          </a:p>
        </p:txBody>
      </p:sp>
      <p:sp>
        <p:nvSpPr>
          <p:cNvPr id="11" name="Shape 6"/>
          <p:cNvSpPr/>
          <p:nvPr/>
        </p:nvSpPr>
        <p:spPr>
          <a:xfrm>
            <a:off x="1524000" y="3118098"/>
            <a:ext cx="734616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12" name="Text 7"/>
          <p:cNvSpPr/>
          <p:nvPr/>
        </p:nvSpPr>
        <p:spPr>
          <a:xfrm>
            <a:off x="1657350" y="3156198"/>
            <a:ext cx="5441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411016" y="3008561"/>
            <a:ext cx="8256984" cy="476250"/>
          </a:xfrm>
          <a:prstGeom prst="roundRect">
            <a:avLst>
              <a:gd name="adj" fmla="val 24000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649141" y="3113336"/>
            <a:ext cx="80284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Descargas &amp;&amp; chmod a+x archivo.AppImage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524000" y="3561011"/>
            <a:ext cx="100584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en la carpeta de descarga;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chmod a+x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permiso de ejecución a todos los usuarios.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1524000" y="4152454"/>
            <a:ext cx="734616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17" name="Text 12"/>
          <p:cNvSpPr/>
          <p:nvPr/>
        </p:nvSpPr>
        <p:spPr>
          <a:xfrm>
            <a:off x="1657350" y="4190554"/>
            <a:ext cx="5441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3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411016" y="4042916"/>
            <a:ext cx="8256984" cy="476250"/>
          </a:xfrm>
          <a:prstGeom prst="roundRect">
            <a:avLst>
              <a:gd name="adj" fmla="val 24000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649141" y="4147691"/>
            <a:ext cx="80284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./archivo.AppImage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524000" y="4595366"/>
            <a:ext cx="941832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el archivo de la carpeta actual. También sirve clic derecho › Ejecutar en el gestor de archivos.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Instalar aplicaciones esenciales</a:t>
            </a:r>
            <a:endParaRPr lang="en-US" sz="3900" dirty="0"/>
          </a:p>
        </p:txBody>
      </p:sp>
      <p:sp>
        <p:nvSpPr>
          <p:cNvPr id="6" name="Shape 1"/>
          <p:cNvSpPr/>
          <p:nvPr/>
        </p:nvSpPr>
        <p:spPr>
          <a:xfrm>
            <a:off x="1524000" y="1974205"/>
            <a:ext cx="9144000" cy="476250"/>
          </a:xfrm>
          <a:prstGeom prst="roundRect">
            <a:avLst>
              <a:gd name="adj" fmla="val 24000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1762125" y="2078980"/>
            <a:ext cx="8942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vlc git gnome-tweaks unrar p7zip-full -y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1524000" y="2564755"/>
            <a:ext cx="10058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orden </a:t>
            </a:r>
            <a:pPr algn="l" indent="0" marL="0"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 install </a:t>
            </a:r>
            <a:pPr algn="l" indent="0" marL="0"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admite varios paquetes separados por espacios:</a:t>
            </a:r>
            <a:endParaRPr lang="en-US" sz="1650" dirty="0"/>
          </a:p>
        </p:txBody>
      </p:sp>
      <p:sp>
        <p:nvSpPr>
          <p:cNvPr id="9" name="Shape 4"/>
          <p:cNvSpPr/>
          <p:nvPr/>
        </p:nvSpPr>
        <p:spPr>
          <a:xfrm>
            <a:off x="1524000" y="3389561"/>
            <a:ext cx="20955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0" name="Text 5"/>
          <p:cNvSpPr/>
          <p:nvPr/>
        </p:nvSpPr>
        <p:spPr>
          <a:xfrm>
            <a:off x="1524000" y="3021955"/>
            <a:ext cx="21717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vlc</a:t>
            </a:r>
            <a:endParaRPr lang="en-US" sz="1650" dirty="0"/>
          </a:p>
        </p:txBody>
      </p:sp>
      <p:sp>
        <p:nvSpPr>
          <p:cNvPr id="11" name="Shape 6"/>
          <p:cNvSpPr/>
          <p:nvPr/>
        </p:nvSpPr>
        <p:spPr>
          <a:xfrm>
            <a:off x="3848100" y="3389561"/>
            <a:ext cx="68199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2" name="Text 7"/>
          <p:cNvSpPr/>
          <p:nvPr/>
        </p:nvSpPr>
        <p:spPr>
          <a:xfrm>
            <a:off x="3848100" y="3021955"/>
            <a:ext cx="7024497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Reproductor multimedia compatible con casi cualquier formato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1524000" y="3861941"/>
            <a:ext cx="20955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4" name="Text 9"/>
          <p:cNvSpPr/>
          <p:nvPr/>
        </p:nvSpPr>
        <p:spPr>
          <a:xfrm>
            <a:off x="1524000" y="3494336"/>
            <a:ext cx="21717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3848100" y="3861941"/>
            <a:ext cx="68199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6" name="Text 11"/>
          <p:cNvSpPr/>
          <p:nvPr/>
        </p:nvSpPr>
        <p:spPr>
          <a:xfrm>
            <a:off x="3848100" y="3494336"/>
            <a:ext cx="7024497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control de versiones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1524000" y="4334321"/>
            <a:ext cx="20955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Text 13"/>
          <p:cNvSpPr/>
          <p:nvPr/>
        </p:nvSpPr>
        <p:spPr>
          <a:xfrm>
            <a:off x="1524000" y="3966716"/>
            <a:ext cx="21717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gnome-tweaks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3848100" y="4334321"/>
            <a:ext cx="68199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0" name="Text 15"/>
          <p:cNvSpPr/>
          <p:nvPr/>
        </p:nvSpPr>
        <p:spPr>
          <a:xfrm>
            <a:off x="3848100" y="3966716"/>
            <a:ext cx="7024497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Retoques: fuentes, botones de ventana y porcentaje de batería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1524000" y="4806702"/>
            <a:ext cx="20955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2" name="Text 17"/>
          <p:cNvSpPr/>
          <p:nvPr/>
        </p:nvSpPr>
        <p:spPr>
          <a:xfrm>
            <a:off x="1524000" y="4439096"/>
            <a:ext cx="21717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unrar · p7zip-full</a:t>
            </a:r>
            <a:endParaRPr lang="en-US" sz="1650" dirty="0"/>
          </a:p>
        </p:txBody>
      </p:sp>
      <p:sp>
        <p:nvSpPr>
          <p:cNvPr id="23" name="Shape 18"/>
          <p:cNvSpPr/>
          <p:nvPr/>
        </p:nvSpPr>
        <p:spPr>
          <a:xfrm>
            <a:off x="3848100" y="4806702"/>
            <a:ext cx="68199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4" name="Text 19"/>
          <p:cNvSpPr/>
          <p:nvPr/>
        </p:nvSpPr>
        <p:spPr>
          <a:xfrm>
            <a:off x="3848100" y="4439096"/>
            <a:ext cx="7024497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Descompresión de archivos RAR y 7z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1524000" y="6165205"/>
            <a:ext cx="47061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Hipertextual, «Qué hacer después de instalar Ubuntu».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3200" cy="1008013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0125" cy="123825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81000" cy="428625"/>
          </a:xfrm>
          <a:prstGeom prst="rect">
            <a:avLst/>
          </a:prstGeom>
          <a:solidFill>
            <a:srgbClr val="0C4F6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2260"/>
            <a:ext cx="12192000" cy="44574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5886450"/>
            <a:ext cx="1447800" cy="971550"/>
          </a:xfrm>
          <a:prstGeom prst="rect">
            <a:avLst/>
          </a:prstGeom>
          <a:solidFill>
            <a:srgbClr val="F5B5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4000" y="2337197"/>
            <a:ext cx="1667470" cy="523875"/>
          </a:xfrm>
          <a:prstGeom prst="roundRect">
            <a:avLst>
              <a:gd name="adj" fmla="val 21818"/>
            </a:avLst>
          </a:prstGeom>
          <a:solidFill>
            <a:srgbClr val="E7E6E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2451497"/>
            <a:ext cx="11340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ETAPA 5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524000" y="3089672"/>
            <a:ext cx="8385125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Endurecimiento: sudo y cortafuegos</a:t>
            </a:r>
            <a:endParaRPr lang="en-US" sz="4350" dirty="0"/>
          </a:p>
        </p:txBody>
      </p:sp>
      <p:sp>
        <p:nvSpPr>
          <p:cNvPr id="11" name="Text 8"/>
          <p:cNvSpPr/>
          <p:nvPr/>
        </p:nvSpPr>
        <p:spPr>
          <a:xfrm>
            <a:off x="1524000" y="4533602"/>
            <a:ext cx="58927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Proteger credenciales y conexiones de red del equipo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Quitar los asteriscos de sudo</a:t>
            </a:r>
            <a:endParaRPr lang="en-US" sz="3900" dirty="0"/>
          </a:p>
        </p:txBody>
      </p:sp>
      <p:sp>
        <p:nvSpPr>
          <p:cNvPr id="6" name="Text 1"/>
          <p:cNvSpPr/>
          <p:nvPr/>
        </p:nvSpPr>
        <p:spPr>
          <a:xfrm>
            <a:off x="1524000" y="1783705"/>
            <a:ext cx="10058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26.04 muestra * al escribir la contraseña y así revela su longitud</a:t>
            </a:r>
            <a:endParaRPr lang="en-US" sz="1650" dirty="0"/>
          </a:p>
        </p:txBody>
      </p:sp>
      <p:sp>
        <p:nvSpPr>
          <p:cNvPr id="7" name="Shape 2"/>
          <p:cNvSpPr/>
          <p:nvPr/>
        </p:nvSpPr>
        <p:spPr>
          <a:xfrm>
            <a:off x="1524000" y="2407593"/>
            <a:ext cx="722709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8" name="Text 3"/>
          <p:cNvSpPr/>
          <p:nvPr/>
        </p:nvSpPr>
        <p:spPr>
          <a:xfrm>
            <a:off x="1657350" y="2445693"/>
            <a:ext cx="5322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2399109" y="2298055"/>
            <a:ext cx="8268891" cy="476250"/>
          </a:xfrm>
          <a:prstGeom prst="roundRect">
            <a:avLst>
              <a:gd name="adj" fmla="val 24000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2637234" y="2402830"/>
            <a:ext cx="8040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visudo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524000" y="2850505"/>
            <a:ext cx="100584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/etc/sudoers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modo seguro: valida la sintaxis antes de guardar.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1524000" y="3441948"/>
            <a:ext cx="734616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13" name="Text 8"/>
          <p:cNvSpPr/>
          <p:nvPr/>
        </p:nvSpPr>
        <p:spPr>
          <a:xfrm>
            <a:off x="1657350" y="3480048"/>
            <a:ext cx="5441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411016" y="3332411"/>
            <a:ext cx="8256984" cy="476250"/>
          </a:xfrm>
          <a:prstGeom prst="roundRect">
            <a:avLst>
              <a:gd name="adj" fmla="val 24000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649141" y="3437186"/>
            <a:ext cx="80284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 !pwfeedback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524000" y="3884861"/>
            <a:ext cx="100584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que se añade al final del archivo;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desactiva la opción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pwfeedback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1524000" y="4476304"/>
            <a:ext cx="734616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18" name="Text 13"/>
          <p:cNvSpPr/>
          <p:nvPr/>
        </p:nvSpPr>
        <p:spPr>
          <a:xfrm>
            <a:off x="1657350" y="4514404"/>
            <a:ext cx="5441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3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411016" y="4366766"/>
            <a:ext cx="8256984" cy="476250"/>
          </a:xfrm>
          <a:prstGeom prst="roundRect">
            <a:avLst>
              <a:gd name="adj" fmla="val 24000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649141" y="4471541"/>
            <a:ext cx="80284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Ctrl+O · Enter · Ctrl+X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524000" y="4919216"/>
            <a:ext cx="100584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Atajos del editor nano: guardar, confirmar el nombre del archivo y salir.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524000" y="2437507"/>
            <a:ext cx="9144000" cy="258633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" name="Shape 1"/>
          <p:cNvSpPr/>
          <p:nvPr/>
        </p:nvSpPr>
        <p:spPr>
          <a:xfrm>
            <a:off x="1524000" y="2437507"/>
            <a:ext cx="57150" cy="2586335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7" name="Text 2"/>
          <p:cNvSpPr/>
          <p:nvPr/>
        </p:nvSpPr>
        <p:spPr>
          <a:xfrm>
            <a:off x="1962150" y="2847082"/>
            <a:ext cx="8415018" cy="1344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524"/>
              </a:lnSpc>
              <a:buNone/>
            </a:pPr>
            <a:r>
              <a:rPr lang="en-US" sz="2775" i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se edita /etc/sudoers con un editor convencional: un error de sintaxis puede bloquear el acceso administrativo al sistema.</a:t>
            </a:r>
            <a:endParaRPr lang="en-US" sz="2775" dirty="0"/>
          </a:p>
        </p:txBody>
      </p:sp>
      <p:sp>
        <p:nvSpPr>
          <p:cNvPr id="8" name="Text 3"/>
          <p:cNvSpPr/>
          <p:nvPr/>
        </p:nvSpPr>
        <p:spPr>
          <a:xfrm>
            <a:off x="1962150" y="4345186"/>
            <a:ext cx="9157335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10"/>
              </a:lnSpc>
              <a:buNone/>
            </a:pPr>
            <a:r>
              <a:rPr lang="en-US" sz="1804" b="1" dirty="0">
                <a:solidFill>
                  <a:srgbClr val="4454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Advertencia de seguridad · usar siempre visudo</a:t>
            </a:r>
            <a:endParaRPr lang="en-US" sz="1804" dirty="0"/>
          </a:p>
        </p:txBody>
      </p:sp>
      <p:sp>
        <p:nvSpPr>
          <p:cNvPr id="9" name="Text 4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Activar el cortafuegos</a:t>
            </a:r>
            <a:endParaRPr lang="en-US" sz="3900" dirty="0"/>
          </a:p>
        </p:txBody>
      </p:sp>
      <p:sp>
        <p:nvSpPr>
          <p:cNvPr id="6" name="Shape 1"/>
          <p:cNvSpPr/>
          <p:nvPr/>
        </p:nvSpPr>
        <p:spPr>
          <a:xfrm>
            <a:off x="1524000" y="2121843"/>
            <a:ext cx="768995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159943"/>
            <a:ext cx="5784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Activar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2445395" y="2012305"/>
            <a:ext cx="8222605" cy="476250"/>
          </a:xfrm>
          <a:prstGeom prst="roundRect">
            <a:avLst>
              <a:gd name="adj" fmla="val 24000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683520" y="2117080"/>
            <a:ext cx="79930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ufw enable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524000" y="2564755"/>
            <a:ext cx="941832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ufw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(Uncomplicated Firewall) activa el cortafuegos integrado de Ubuntu; queda habilitado en cada arranque.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1524000" y="3490466"/>
            <a:ext cx="100584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Seguridad básica complementaria</a:t>
            </a:r>
            <a:endParaRPr lang="en-US" sz="2025" dirty="0"/>
          </a:p>
        </p:txBody>
      </p:sp>
      <p:sp>
        <p:nvSpPr>
          <p:cNvPr id="12" name="Text 7"/>
          <p:cNvSpPr/>
          <p:nvPr/>
        </p:nvSpPr>
        <p:spPr>
          <a:xfrm>
            <a:off x="1615351" y="3900041"/>
            <a:ext cx="994191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11429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 robusta en la cuenta de usuario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615351" y="4292352"/>
            <a:ext cx="9941912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60020" indent="-160020">
              <a:lnSpc>
                <a:spcPct val="111429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 las actualizaciones automáticas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524000" y="6165205"/>
            <a:ext cx="47061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Hipertextual, «Qué hacer después de instalar Ubuntu».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63200" cy="1008013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0125" cy="123825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81000" cy="428625"/>
          </a:xfrm>
          <a:prstGeom prst="rect">
            <a:avLst/>
          </a:prstGeom>
          <a:solidFill>
            <a:srgbClr val="0C4F6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412260"/>
            <a:ext cx="12192000" cy="44574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0" y="5886450"/>
            <a:ext cx="1447800" cy="971550"/>
          </a:xfrm>
          <a:prstGeom prst="rect">
            <a:avLst/>
          </a:prstGeom>
          <a:solidFill>
            <a:srgbClr val="F5B5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4000" y="2337197"/>
            <a:ext cx="1681014" cy="523875"/>
          </a:xfrm>
          <a:prstGeom prst="roundRect">
            <a:avLst>
              <a:gd name="adj" fmla="val 21818"/>
            </a:avLst>
          </a:prstGeom>
          <a:solidFill>
            <a:srgbClr val="E7E6E6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2451497"/>
            <a:ext cx="114761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pc="81" kern="0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ETAPA 6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524000" y="3089672"/>
            <a:ext cx="8385125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64"/>
              </a:lnSpc>
              <a:buNone/>
            </a:pPr>
            <a:r>
              <a:rPr lang="en-US" sz="4350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Respaldo y resolución de problemas</a:t>
            </a:r>
            <a:endParaRPr lang="en-US" sz="4350" dirty="0"/>
          </a:p>
        </p:txBody>
      </p:sp>
      <p:sp>
        <p:nvSpPr>
          <p:cNvPr id="11" name="Text 8"/>
          <p:cNvSpPr/>
          <p:nvPr/>
        </p:nvSpPr>
        <p:spPr>
          <a:xfrm>
            <a:off x="1524000" y="4533602"/>
            <a:ext cx="58927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de restauración y fallos frecuentes tras la instalación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Crear un punto de restauración</a:t>
            </a:r>
            <a:endParaRPr lang="en-US" sz="3900" dirty="0"/>
          </a:p>
        </p:txBody>
      </p:sp>
      <p:sp>
        <p:nvSpPr>
          <p:cNvPr id="6" name="Shape 1"/>
          <p:cNvSpPr/>
          <p:nvPr/>
        </p:nvSpPr>
        <p:spPr>
          <a:xfrm>
            <a:off x="1524000" y="2121843"/>
            <a:ext cx="722709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57350" y="2159943"/>
            <a:ext cx="5322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</a:t>
            </a:r>
            <a:endParaRPr lang="en-US" sz="1200" dirty="0"/>
          </a:p>
        </p:txBody>
      </p:sp>
      <p:sp>
        <p:nvSpPr>
          <p:cNvPr id="8" name="Shape 3"/>
          <p:cNvSpPr/>
          <p:nvPr/>
        </p:nvSpPr>
        <p:spPr>
          <a:xfrm>
            <a:off x="2399109" y="2012305"/>
            <a:ext cx="8268891" cy="476250"/>
          </a:xfrm>
          <a:prstGeom prst="roundRect">
            <a:avLst>
              <a:gd name="adj" fmla="val 24000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637234" y="2117080"/>
            <a:ext cx="804070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timeshift -y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524000" y="2564755"/>
            <a:ext cx="941832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Timeshift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la herramienta que guarda instantáneas del sistema para volver a un estado anterior.</a:t>
            </a:r>
            <a:endParaRPr lang="en-US" sz="1650" dirty="0"/>
          </a:p>
        </p:txBody>
      </p:sp>
      <p:sp>
        <p:nvSpPr>
          <p:cNvPr id="11" name="Shape 6"/>
          <p:cNvSpPr/>
          <p:nvPr/>
        </p:nvSpPr>
        <p:spPr>
          <a:xfrm>
            <a:off x="1524000" y="3485704"/>
            <a:ext cx="734616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12" name="Text 7"/>
          <p:cNvSpPr/>
          <p:nvPr/>
        </p:nvSpPr>
        <p:spPr>
          <a:xfrm>
            <a:off x="1657350" y="3523804"/>
            <a:ext cx="5441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2411016" y="3376166"/>
            <a:ext cx="8256984" cy="476250"/>
          </a:xfrm>
          <a:prstGeom prst="roundRect">
            <a:avLst>
              <a:gd name="adj" fmla="val 24000"/>
            </a:avLst>
          </a:prstGeom>
          <a:solidFill>
            <a:srgbClr val="F8F8F8"/>
          </a:solidFill>
          <a:ln w="9525">
            <a:solidFill>
              <a:srgbClr val="E7E6E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649141" y="3480941"/>
            <a:ext cx="80284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timeshift --create --comments "base limpia"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524000" y="3928616"/>
            <a:ext cx="941832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--create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una instantánea inmediata;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--comments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añade una etiqueta. Conviene crearla al terminar toda la puesta a punto.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1524000" y="6165205"/>
            <a:ext cx="69144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Hipertextual, «Qué hacer después de instalar Ubuntu». Documentación de Timeshift.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Configurar y recuperar con Timeshift</a:t>
            </a:r>
            <a:endParaRPr lang="en-US" sz="3900" dirty="0"/>
          </a:p>
        </p:txBody>
      </p:sp>
      <p:sp>
        <p:nvSpPr>
          <p:cNvPr id="6" name="Text 1"/>
          <p:cNvSpPr/>
          <p:nvPr/>
        </p:nvSpPr>
        <p:spPr>
          <a:xfrm>
            <a:off x="1524000" y="1974205"/>
            <a:ext cx="4819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Configuración inicial</a:t>
            </a:r>
            <a:endParaRPr lang="en-US" sz="2025" dirty="0"/>
          </a:p>
        </p:txBody>
      </p:sp>
      <p:sp>
        <p:nvSpPr>
          <p:cNvPr id="7" name="Text 2"/>
          <p:cNvSpPr/>
          <p:nvPr/>
        </p:nvSpPr>
        <p:spPr>
          <a:xfrm>
            <a:off x="1607701" y="2383780"/>
            <a:ext cx="442233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46685" indent="-146685">
              <a:lnSpc>
                <a:spcPct val="110000"/>
              </a:lnSpc>
              <a:buSzPct val="100000"/>
              <a:buChar char="•"/>
              <a:tabLst>
                <a:tab pos="146685" algn="l"/>
              </a:tabLst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Instantánea RSYNC en discos EXT4; BTRFS si el sistema usa ese formato</a:t>
            </a:r>
            <a:endParaRPr lang="en-US" sz="1650" dirty="0"/>
          </a:p>
        </p:txBody>
      </p:sp>
      <p:sp>
        <p:nvSpPr>
          <p:cNvPr id="8" name="Text 3"/>
          <p:cNvSpPr/>
          <p:nvPr/>
        </p:nvSpPr>
        <p:spPr>
          <a:xfrm>
            <a:off x="1607701" y="3023741"/>
            <a:ext cx="471291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46685" indent="-146685">
              <a:lnSpc>
                <a:spcPct val="110000"/>
              </a:lnSpc>
              <a:buSzPct val="100000"/>
              <a:buChar char="•"/>
              <a:tabLst>
                <a:tab pos="146685" algn="l"/>
              </a:tabLst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 de destino distinto al del sistema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1607701" y="3391346"/>
            <a:ext cx="442233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46685" indent="-146685">
              <a:lnSpc>
                <a:spcPct val="110000"/>
              </a:lnSpc>
              <a:buSzPct val="100000"/>
              <a:buChar char="•"/>
              <a:tabLst>
                <a:tab pos="146685" algn="l"/>
              </a:tabLst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diaria y semanal, con /home excluido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286500" y="1974205"/>
            <a:ext cx="4819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C4F6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Uso y recuperación</a:t>
            </a:r>
            <a:endParaRPr lang="en-US" sz="2025" dirty="0"/>
          </a:p>
        </p:txBody>
      </p:sp>
      <p:sp>
        <p:nvSpPr>
          <p:cNvPr id="11" name="Text 6"/>
          <p:cNvSpPr/>
          <p:nvPr/>
        </p:nvSpPr>
        <p:spPr>
          <a:xfrm>
            <a:off x="6370201" y="2383780"/>
            <a:ext cx="442233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46685" indent="-146685">
              <a:lnSpc>
                <a:spcPct val="110000"/>
              </a:lnSpc>
              <a:buSzPct val="100000"/>
              <a:buChar char="•"/>
              <a:tabLst>
                <a:tab pos="146685" algn="l"/>
              </a:tabLst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Instantánea manual antes de cambiar kernel, drivers o repositorios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6370201" y="3023741"/>
            <a:ext cx="442233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46685" indent="-146685">
              <a:lnSpc>
                <a:spcPct val="110000"/>
              </a:lnSpc>
              <a:buSzPct val="100000"/>
              <a:buChar char="•"/>
              <a:tabLst>
                <a:tab pos="146685" algn="l"/>
              </a:tabLst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Restauración desde la aplicación: fecha y confirmación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370201" y="3663702"/>
            <a:ext cx="4422332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46685" indent="-146685">
              <a:lnSpc>
                <a:spcPct val="110000"/>
              </a:lnSpc>
              <a:buSzPct val="100000"/>
              <a:buChar char="•"/>
              <a:tabLst>
                <a:tab pos="146685" algn="l"/>
              </a:tabLst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arranque: restaurar desde el USB en vivo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1524000" y="4456063"/>
            <a:ext cx="9144000" cy="51435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5" name="Shape 10"/>
          <p:cNvSpPr/>
          <p:nvPr/>
        </p:nvSpPr>
        <p:spPr>
          <a:xfrm>
            <a:off x="1524000" y="4456063"/>
            <a:ext cx="57150" cy="514350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16" name="Text 11"/>
          <p:cNvSpPr/>
          <p:nvPr/>
        </p:nvSpPr>
        <p:spPr>
          <a:xfrm>
            <a:off x="1809750" y="4589413"/>
            <a:ext cx="89039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sustituye el respaldo de archivos personales: para eso, Déjà Dup o un disco externo.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24000" y="6165205"/>
            <a:ext cx="69144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Hipertextual, «Qué hacer después de instalar Ubuntu». Documentación de Timeshift.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524000" y="1124694"/>
            <a:ext cx="722709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6" name="Text 1"/>
          <p:cNvSpPr/>
          <p:nvPr/>
        </p:nvSpPr>
        <p:spPr>
          <a:xfrm>
            <a:off x="1657350" y="1162794"/>
            <a:ext cx="5322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524000" y="1458069"/>
            <a:ext cx="1005840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04"/>
              </a:lnSpc>
              <a:buNone/>
            </a:pPr>
            <a:r>
              <a:rPr lang="en-US" sz="34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Elegir el tipo de instantánea</a:t>
            </a:r>
            <a:endParaRPr lang="en-US" sz="3450" dirty="0"/>
          </a:p>
        </p:txBody>
      </p:sp>
      <p:sp>
        <p:nvSpPr>
          <p:cNvPr id="8" name="Shape 3"/>
          <p:cNvSpPr/>
          <p:nvPr/>
        </p:nvSpPr>
        <p:spPr>
          <a:xfrm>
            <a:off x="1524000" y="2168575"/>
            <a:ext cx="5143500" cy="3926384"/>
          </a:xfrm>
          <a:prstGeom prst="roundRect">
            <a:avLst>
              <a:gd name="adj" fmla="val 2911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825" y="2292400"/>
            <a:ext cx="4895850" cy="367873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985546" y="2168575"/>
            <a:ext cx="3783498" cy="88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14325" indent="-314325">
              <a:lnSpc>
                <a:spcPct val="110000"/>
              </a:lnSpc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Timeshift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menú e introducir la contraseña de administrador</a:t>
            </a:r>
            <a:endParaRPr lang="en-US" sz="1650" dirty="0"/>
          </a:p>
        </p:txBody>
      </p:sp>
      <p:sp>
        <p:nvSpPr>
          <p:cNvPr id="11" name="Text 5"/>
          <p:cNvSpPr/>
          <p:nvPr/>
        </p:nvSpPr>
        <p:spPr>
          <a:xfrm>
            <a:off x="6985546" y="3128516"/>
            <a:ext cx="3783498" cy="601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14325" indent="-314325">
              <a:lnSpc>
                <a:spcPct val="1100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pestaña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marcar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RSYNC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discos EXT4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6985546" y="3806577"/>
            <a:ext cx="3783498" cy="601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14325" indent="-314325">
              <a:lnSpc>
                <a:spcPct val="1100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BTRFS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si el sistema se instaló en ese formato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1524000" y="6165205"/>
            <a:ext cx="48450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Captura: repositorio oficial de Timeshift en GitHub (licencia GPL).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524000" y="1124694"/>
            <a:ext cx="734616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6" name="Text 1"/>
          <p:cNvSpPr/>
          <p:nvPr/>
        </p:nvSpPr>
        <p:spPr>
          <a:xfrm>
            <a:off x="1657350" y="1162794"/>
            <a:ext cx="5441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524000" y="1458069"/>
            <a:ext cx="1005840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04"/>
              </a:lnSpc>
              <a:buNone/>
            </a:pPr>
            <a:r>
              <a:rPr lang="en-US" sz="34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Seleccionar el disco de destino</a:t>
            </a:r>
            <a:endParaRPr lang="en-US" sz="3450" dirty="0"/>
          </a:p>
        </p:txBody>
      </p:sp>
      <p:sp>
        <p:nvSpPr>
          <p:cNvPr id="8" name="Shape 3"/>
          <p:cNvSpPr/>
          <p:nvPr/>
        </p:nvSpPr>
        <p:spPr>
          <a:xfrm>
            <a:off x="1524000" y="2168575"/>
            <a:ext cx="5143500" cy="3926384"/>
          </a:xfrm>
          <a:prstGeom prst="roundRect">
            <a:avLst>
              <a:gd name="adj" fmla="val 2911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825" y="2292400"/>
            <a:ext cx="4895850" cy="367873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985546" y="2168575"/>
            <a:ext cx="3783498" cy="601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14325" indent="-314325">
              <a:lnSpc>
                <a:spcPct val="110000"/>
              </a:lnSpc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Ubicación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elegir una partición distinta a la del sistema</a:t>
            </a:r>
            <a:endParaRPr lang="en-US" sz="1650" dirty="0"/>
          </a:p>
        </p:txBody>
      </p:sp>
      <p:sp>
        <p:nvSpPr>
          <p:cNvPr id="11" name="Text 5"/>
          <p:cNvSpPr/>
          <p:nvPr/>
        </p:nvSpPr>
        <p:spPr>
          <a:xfrm>
            <a:off x="6985546" y="2846636"/>
            <a:ext cx="3783498" cy="601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14325" indent="-314325">
              <a:lnSpc>
                <a:spcPct val="110000"/>
              </a:lnSpc>
              <a:buSzPct val="100000"/>
              <a:buFont typeface="+mj-lt"/>
              <a:buAutoNum type="arabicPeriod" startAt="2"/>
              <a:tabLst>
                <a:tab pos="314325" algn="l"/>
              </a:tabLst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Comprobar que haya espacio libre para varias instantáneas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6985546" y="3524696"/>
            <a:ext cx="3783498" cy="601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14325" indent="-314325">
              <a:lnSpc>
                <a:spcPct val="110000"/>
              </a:lnSpc>
              <a:buSzPct val="100000"/>
              <a:buFont typeface="+mj-lt"/>
              <a:buAutoNum type="arabicPeriod" startAt="3"/>
              <a:tabLst>
                <a:tab pos="314325" algn="l"/>
              </a:tabLst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disco externo permite restaurar aunque el disco principal falle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1524000" y="6165205"/>
            <a:ext cx="48450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Captura: repositorio oficial de Timeshift en GitHub (licencia GPL).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524000" y="1124694"/>
            <a:ext cx="734616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6" name="Text 1"/>
          <p:cNvSpPr/>
          <p:nvPr/>
        </p:nvSpPr>
        <p:spPr>
          <a:xfrm>
            <a:off x="1657350" y="1162794"/>
            <a:ext cx="54411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3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524000" y="1458069"/>
            <a:ext cx="1005840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04"/>
              </a:lnSpc>
              <a:buNone/>
            </a:pPr>
            <a:r>
              <a:rPr lang="en-US" sz="34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Programar las instantáneas</a:t>
            </a:r>
            <a:endParaRPr lang="en-US" sz="3450" dirty="0"/>
          </a:p>
        </p:txBody>
      </p:sp>
      <p:sp>
        <p:nvSpPr>
          <p:cNvPr id="8" name="Shape 3"/>
          <p:cNvSpPr/>
          <p:nvPr/>
        </p:nvSpPr>
        <p:spPr>
          <a:xfrm>
            <a:off x="1524000" y="2168575"/>
            <a:ext cx="5143500" cy="3926384"/>
          </a:xfrm>
          <a:prstGeom prst="roundRect">
            <a:avLst>
              <a:gd name="adj" fmla="val 2911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825" y="2292400"/>
            <a:ext cx="4895850" cy="367873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985546" y="2168575"/>
            <a:ext cx="3783498" cy="601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14325" indent="-314325">
              <a:lnSpc>
                <a:spcPct val="110000"/>
              </a:lnSpc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activar los niveles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Diario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Semanal</a:t>
            </a:r>
            <a:endParaRPr lang="en-US" sz="1650" dirty="0"/>
          </a:p>
        </p:txBody>
      </p:sp>
      <p:sp>
        <p:nvSpPr>
          <p:cNvPr id="11" name="Text 5"/>
          <p:cNvSpPr/>
          <p:nvPr/>
        </p:nvSpPr>
        <p:spPr>
          <a:xfrm>
            <a:off x="6985546" y="2846636"/>
            <a:ext cx="3783498" cy="88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14325" indent="-314325">
              <a:lnSpc>
                <a:spcPct val="110000"/>
              </a:lnSpc>
              <a:buSzPct val="100000"/>
              <a:buFont typeface="+mj-lt"/>
              <a:buAutoNum type="arabicPeriod" startAt="2"/>
              <a:tabLst>
                <a:tab pos="314325" algn="l"/>
              </a:tabLst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cuántas instantáneas se conservan por nivel (5 o menos ahorra espacio)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6985546" y="3806577"/>
            <a:ext cx="3783498" cy="601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314325" indent="-314325">
              <a:lnSpc>
                <a:spcPct val="1100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</a:t>
            </a:r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dejar /home excluido, como viene por defecto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1524000" y="6165205"/>
            <a:ext cx="48450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Captura: repositorio oficial de Timeshift en GitHub (licencia GPL).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524000" y="1124694"/>
            <a:ext cx="736848" cy="257175"/>
          </a:xfrm>
          <a:prstGeom prst="roundRect">
            <a:avLst>
              <a:gd name="adj" fmla="val 50000"/>
            </a:avLst>
          </a:prstGeom>
          <a:solidFill>
            <a:srgbClr val="2585B6"/>
          </a:solidFill>
          <a:ln/>
        </p:spPr>
      </p:sp>
      <p:sp>
        <p:nvSpPr>
          <p:cNvPr id="6" name="Text 1"/>
          <p:cNvSpPr/>
          <p:nvPr/>
        </p:nvSpPr>
        <p:spPr>
          <a:xfrm>
            <a:off x="1657350" y="1162794"/>
            <a:ext cx="54634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4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524000" y="1458069"/>
            <a:ext cx="10058400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04"/>
              </a:lnSpc>
              <a:buNone/>
            </a:pPr>
            <a:r>
              <a:rPr lang="en-US" sz="345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Crear y restaurar una instantánea</a:t>
            </a:r>
            <a:endParaRPr lang="en-US" sz="3450" dirty="0"/>
          </a:p>
        </p:txBody>
      </p:sp>
      <p:sp>
        <p:nvSpPr>
          <p:cNvPr id="8" name="Shape 3"/>
          <p:cNvSpPr/>
          <p:nvPr/>
        </p:nvSpPr>
        <p:spPr>
          <a:xfrm>
            <a:off x="1524000" y="2168575"/>
            <a:ext cx="44196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940123" y="2292400"/>
            <a:ext cx="3587204" cy="26098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24000" y="5140375"/>
            <a:ext cx="455218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genera una instantánea manual y la añade a la lista.</a:t>
            </a:r>
            <a:endParaRPr lang="en-US" sz="1650" dirty="0"/>
          </a:p>
        </p:txBody>
      </p:sp>
      <p:sp>
        <p:nvSpPr>
          <p:cNvPr id="11" name="Shape 5"/>
          <p:cNvSpPr/>
          <p:nvPr/>
        </p:nvSpPr>
        <p:spPr>
          <a:xfrm>
            <a:off x="6248400" y="2168575"/>
            <a:ext cx="44196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7E6E6"/>
            </a:solidFill>
            <a:prstDash val="solid"/>
          </a:ln>
          <a:effectLst>
            <a:outerShdw sx="100000" sy="100000" kx="0" ky="0" algn="bl" rotWithShape="0" blurRad="133350" dist="38100" dir="5400000">
              <a:srgbClr val="0C4F6D">
                <a:alpha val="10000"/>
              </a:srgbClr>
            </a:outerShdw>
          </a:effectLst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" b="-1"/>
          <a:stretch/>
        </p:blipFill>
        <p:spPr>
          <a:xfrm>
            <a:off x="7260580" y="2292400"/>
            <a:ext cx="2395091" cy="26098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248400" y="5140375"/>
            <a:ext cx="4552188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Restaurar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 elige la fecha, se revisa el resumen y se reinicia.</a:t>
            </a:r>
            <a:endParaRPr lang="en-US" sz="1650" dirty="0"/>
          </a:p>
        </p:txBody>
      </p:sp>
      <p:sp>
        <p:nvSpPr>
          <p:cNvPr id="14" name="Text 7"/>
          <p:cNvSpPr/>
          <p:nvPr/>
        </p:nvSpPr>
        <p:spPr>
          <a:xfrm>
            <a:off x="1524000" y="6165205"/>
            <a:ext cx="48450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Captura: repositorio oficial de Timeshift en GitHub (licencia GPL).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Resolución de problemas</a:t>
            </a:r>
            <a:endParaRPr lang="en-US" sz="3900" dirty="0"/>
          </a:p>
        </p:txBody>
      </p:sp>
      <p:sp>
        <p:nvSpPr>
          <p:cNvPr id="6" name="Shape 1"/>
          <p:cNvSpPr/>
          <p:nvPr/>
        </p:nvSpPr>
        <p:spPr>
          <a:xfrm>
            <a:off x="1524000" y="1974205"/>
            <a:ext cx="2925961" cy="46285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76400" y="2069455"/>
            <a:ext cx="270894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Síntoma</a:t>
            </a:r>
            <a:endParaRPr lang="en-US" sz="1650" dirty="0"/>
          </a:p>
        </p:txBody>
      </p:sp>
      <p:sp>
        <p:nvSpPr>
          <p:cNvPr id="8" name="Shape 3"/>
          <p:cNvSpPr/>
          <p:nvPr/>
        </p:nvSpPr>
        <p:spPr>
          <a:xfrm>
            <a:off x="4449961" y="1974205"/>
            <a:ext cx="6218039" cy="462855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4602361" y="2069455"/>
            <a:ext cx="609978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Causa y solución</a:t>
            </a:r>
            <a:endParaRPr lang="en-US" sz="1650" dirty="0"/>
          </a:p>
        </p:txBody>
      </p:sp>
      <p:sp>
        <p:nvSpPr>
          <p:cNvPr id="10" name="Shape 5"/>
          <p:cNvSpPr/>
          <p:nvPr/>
        </p:nvSpPr>
        <p:spPr>
          <a:xfrm>
            <a:off x="1524000" y="3167509"/>
            <a:ext cx="29259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1" name="Text 6"/>
          <p:cNvSpPr/>
          <p:nvPr/>
        </p:nvSpPr>
        <p:spPr>
          <a:xfrm>
            <a:off x="1676400" y="2532311"/>
            <a:ext cx="2708940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USB no es detectado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4449961" y="3167509"/>
            <a:ext cx="62180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4602361" y="2532311"/>
            <a:ext cx="6099780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Conflicto con Secure Boot o esquema MBR: verificar que el USB sea GPT/UEFI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1524000" y="3177034"/>
            <a:ext cx="2925961" cy="744736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5" name="Shape 10"/>
          <p:cNvSpPr/>
          <p:nvPr/>
        </p:nvSpPr>
        <p:spPr>
          <a:xfrm>
            <a:off x="1524000" y="3912245"/>
            <a:ext cx="29259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6" name="Text 11"/>
          <p:cNvSpPr/>
          <p:nvPr/>
        </p:nvSpPr>
        <p:spPr>
          <a:xfrm>
            <a:off x="1676400" y="3272284"/>
            <a:ext cx="270894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negra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4449961" y="3177034"/>
            <a:ext cx="6218039" cy="744736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8" name="Shape 13"/>
          <p:cNvSpPr/>
          <p:nvPr/>
        </p:nvSpPr>
        <p:spPr>
          <a:xfrm>
            <a:off x="4449961" y="3912245"/>
            <a:ext cx="62180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9" name="Text 14"/>
          <p:cNvSpPr/>
          <p:nvPr/>
        </p:nvSpPr>
        <p:spPr>
          <a:xfrm>
            <a:off x="4602361" y="3272284"/>
            <a:ext cx="609978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highlight>
                  <a:srgbClr val="F8F8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Incompatibilidad del kernel con Wayland y NVIDIA: pulsar «e» en GRUB y añadir </a:t>
            </a:r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nomodeset</a:t>
            </a:r>
            <a:endParaRPr lang="en-US" sz="1650" dirty="0"/>
          </a:p>
        </p:txBody>
      </p:sp>
      <p:sp>
        <p:nvSpPr>
          <p:cNvPr id="20" name="Shape 15"/>
          <p:cNvSpPr/>
          <p:nvPr/>
        </p:nvSpPr>
        <p:spPr>
          <a:xfrm>
            <a:off x="1524000" y="4656981"/>
            <a:ext cx="29259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1" name="Text 16"/>
          <p:cNvSpPr/>
          <p:nvPr/>
        </p:nvSpPr>
        <p:spPr>
          <a:xfrm>
            <a:off x="1676400" y="4017020"/>
            <a:ext cx="270894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girando · bug de Mutter</a:t>
            </a:r>
            <a:endParaRPr lang="en-US" sz="1650" dirty="0"/>
          </a:p>
        </p:txBody>
      </p:sp>
      <p:sp>
        <p:nvSpPr>
          <p:cNvPr id="22" name="Shape 17"/>
          <p:cNvSpPr/>
          <p:nvPr/>
        </p:nvSpPr>
        <p:spPr>
          <a:xfrm>
            <a:off x="4449961" y="4656981"/>
            <a:ext cx="62180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4602361" y="4017020"/>
            <a:ext cx="609978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del gestor de ventanas al conectar monitores en caliente; corregido en la 26.04.1 LTS</a:t>
            </a:r>
            <a:endParaRPr lang="en-US" sz="1650" dirty="0"/>
          </a:p>
        </p:txBody>
      </p:sp>
      <p:sp>
        <p:nvSpPr>
          <p:cNvPr id="24" name="Shape 19"/>
          <p:cNvSpPr/>
          <p:nvPr/>
        </p:nvSpPr>
        <p:spPr>
          <a:xfrm>
            <a:off x="1524000" y="4666506"/>
            <a:ext cx="2925961" cy="4723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1524000" y="5129361"/>
            <a:ext cx="2925961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1676400" y="4761756"/>
            <a:ext cx="270894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no visibles</a:t>
            </a:r>
            <a:endParaRPr lang="en-US" sz="1650" dirty="0"/>
          </a:p>
        </p:txBody>
      </p:sp>
      <p:sp>
        <p:nvSpPr>
          <p:cNvPr id="27" name="Shape 22"/>
          <p:cNvSpPr/>
          <p:nvPr/>
        </p:nvSpPr>
        <p:spPr>
          <a:xfrm>
            <a:off x="4449961" y="4666506"/>
            <a:ext cx="6218039" cy="4723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8" name="Shape 23"/>
          <p:cNvSpPr/>
          <p:nvPr/>
        </p:nvSpPr>
        <p:spPr>
          <a:xfrm>
            <a:off x="4449961" y="5129361"/>
            <a:ext cx="6218039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9" name="Text 24"/>
          <p:cNvSpPr/>
          <p:nvPr/>
        </p:nvSpPr>
        <p:spPr>
          <a:xfrm>
            <a:off x="4602361" y="4761756"/>
            <a:ext cx="609978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en modo RAID/RST: cambiar a AHCI en la BIOS</a:t>
            </a:r>
            <a:endParaRPr lang="en-US" sz="1650" dirty="0"/>
          </a:p>
        </p:txBody>
      </p:sp>
      <p:sp>
        <p:nvSpPr>
          <p:cNvPr id="30" name="Text 25"/>
          <p:cNvSpPr/>
          <p:nvPr/>
        </p:nvSpPr>
        <p:spPr>
          <a:xfrm>
            <a:off x="1524000" y="6165205"/>
            <a:ext cx="43491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guía de instalación de Ubuntu Desktop 26.04 LTS.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524000" y="2208461"/>
            <a:ext cx="9144000" cy="304442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6" name="Shape 1"/>
          <p:cNvSpPr/>
          <p:nvPr/>
        </p:nvSpPr>
        <p:spPr>
          <a:xfrm>
            <a:off x="1524000" y="2208461"/>
            <a:ext cx="57150" cy="3044428"/>
          </a:xfrm>
          <a:prstGeom prst="rect">
            <a:avLst/>
          </a:prstGeom>
          <a:solidFill>
            <a:srgbClr val="F5B53C"/>
          </a:solidFill>
          <a:ln/>
        </p:spPr>
      </p:sp>
      <p:sp>
        <p:nvSpPr>
          <p:cNvPr id="7" name="Text 2"/>
          <p:cNvSpPr/>
          <p:nvPr/>
        </p:nvSpPr>
        <p:spPr>
          <a:xfrm>
            <a:off x="1962150" y="2618036"/>
            <a:ext cx="7668021" cy="180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524"/>
              </a:lnSpc>
              <a:buNone/>
            </a:pPr>
            <a:r>
              <a:rPr lang="en-US" sz="2775" i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26.04 utiliza Wayland por defecto bajo GNOME 50.1. Ante fallos persistentes con aplicaciones heredadas, conviene iniciar sesión seleccionando «Ubuntu on Xorg».</a:t>
            </a:r>
            <a:endParaRPr lang="en-US" sz="2775" dirty="0"/>
          </a:p>
        </p:txBody>
      </p:sp>
      <p:sp>
        <p:nvSpPr>
          <p:cNvPr id="8" name="Text 3"/>
          <p:cNvSpPr/>
          <p:nvPr/>
        </p:nvSpPr>
        <p:spPr>
          <a:xfrm>
            <a:off x="1962150" y="4574232"/>
            <a:ext cx="9157335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10"/>
              </a:lnSpc>
              <a:buNone/>
            </a:pPr>
            <a:r>
              <a:rPr lang="en-US" sz="1804" b="1" dirty="0">
                <a:solidFill>
                  <a:srgbClr val="4454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Guía de instalación de Ubuntu Desktop 26.04 LTS</a:t>
            </a:r>
            <a:endParaRPr lang="en-US" sz="1804" dirty="0"/>
          </a:p>
        </p:txBody>
      </p:sp>
      <p:sp>
        <p:nvSpPr>
          <p:cNvPr id="9" name="Text 4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Resumen de comandos · etapas 1 a 3</a:t>
            </a:r>
            <a:endParaRPr lang="en-US" sz="3900" dirty="0"/>
          </a:p>
        </p:txBody>
      </p:sp>
      <p:sp>
        <p:nvSpPr>
          <p:cNvPr id="6" name="Shape 1"/>
          <p:cNvSpPr/>
          <p:nvPr/>
        </p:nvSpPr>
        <p:spPr>
          <a:xfrm>
            <a:off x="1524000" y="1936105"/>
            <a:ext cx="5029200" cy="4000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76400" y="2031355"/>
            <a:ext cx="48752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Comando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6553200" y="1936105"/>
            <a:ext cx="4114800" cy="4000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6705600" y="2031355"/>
            <a:ext cx="39334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Función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1524000" y="2655243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1" name="Text 6"/>
          <p:cNvSpPr/>
          <p:nvPr/>
        </p:nvSpPr>
        <p:spPr>
          <a:xfrm>
            <a:off x="1657350" y="2393305"/>
            <a:ext cx="491337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425" dirty="0"/>
          </a:p>
        </p:txBody>
      </p:sp>
      <p:sp>
        <p:nvSpPr>
          <p:cNvPr id="12" name="Shape 7"/>
          <p:cNvSpPr/>
          <p:nvPr/>
        </p:nvSpPr>
        <p:spPr>
          <a:xfrm>
            <a:off x="6553200" y="2655243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6686550" y="2393305"/>
            <a:ext cx="397154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 los índices de repositorios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1524000" y="2664768"/>
            <a:ext cx="5029200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5" name="Shape 10"/>
          <p:cNvSpPr/>
          <p:nvPr/>
        </p:nvSpPr>
        <p:spPr>
          <a:xfrm>
            <a:off x="1524000" y="2988618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6" name="Text 11"/>
          <p:cNvSpPr/>
          <p:nvPr/>
        </p:nvSpPr>
        <p:spPr>
          <a:xfrm>
            <a:off x="1657350" y="2721918"/>
            <a:ext cx="4913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upgrade</a:t>
            </a:r>
            <a:endParaRPr lang="en-US" sz="1425" dirty="0"/>
          </a:p>
        </p:txBody>
      </p:sp>
      <p:sp>
        <p:nvSpPr>
          <p:cNvPr id="17" name="Shape 12"/>
          <p:cNvSpPr/>
          <p:nvPr/>
        </p:nvSpPr>
        <p:spPr>
          <a:xfrm>
            <a:off x="6553200" y="2664768"/>
            <a:ext cx="4114800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8" name="Shape 13"/>
          <p:cNvSpPr/>
          <p:nvPr/>
        </p:nvSpPr>
        <p:spPr>
          <a:xfrm>
            <a:off x="6553200" y="2988618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9" name="Text 14"/>
          <p:cNvSpPr/>
          <p:nvPr/>
        </p:nvSpPr>
        <p:spPr>
          <a:xfrm>
            <a:off x="6686550" y="2721918"/>
            <a:ext cx="39715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 las actualizaciones pendientes</a:t>
            </a:r>
            <a:endParaRPr lang="en-US" sz="1425" dirty="0"/>
          </a:p>
        </p:txBody>
      </p:sp>
      <p:sp>
        <p:nvSpPr>
          <p:cNvPr id="20" name="Shape 15"/>
          <p:cNvSpPr/>
          <p:nvPr/>
        </p:nvSpPr>
        <p:spPr>
          <a:xfrm>
            <a:off x="1524000" y="3321993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1" name="Text 16"/>
          <p:cNvSpPr/>
          <p:nvPr/>
        </p:nvSpPr>
        <p:spPr>
          <a:xfrm>
            <a:off x="1657350" y="3055293"/>
            <a:ext cx="4913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autoremove</a:t>
            </a:r>
            <a:endParaRPr lang="en-US" sz="1425" dirty="0"/>
          </a:p>
        </p:txBody>
      </p:sp>
      <p:sp>
        <p:nvSpPr>
          <p:cNvPr id="22" name="Shape 17"/>
          <p:cNvSpPr/>
          <p:nvPr/>
        </p:nvSpPr>
        <p:spPr>
          <a:xfrm>
            <a:off x="6553200" y="3321993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6686550" y="3055293"/>
            <a:ext cx="39715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paquetes obsoletos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1524000" y="3331518"/>
            <a:ext cx="5029200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1524000" y="3655368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1657350" y="3388668"/>
            <a:ext cx="4913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timedatectl set-local-rtc 1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6553200" y="3331518"/>
            <a:ext cx="4114800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8" name="Shape 23"/>
          <p:cNvSpPr/>
          <p:nvPr/>
        </p:nvSpPr>
        <p:spPr>
          <a:xfrm>
            <a:off x="6553200" y="3655368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9" name="Text 24"/>
          <p:cNvSpPr/>
          <p:nvPr/>
        </p:nvSpPr>
        <p:spPr>
          <a:xfrm>
            <a:off x="6686550" y="3388668"/>
            <a:ext cx="39715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Reloj en hora local (arranque dual)</a:t>
            </a:r>
            <a:endParaRPr lang="en-US" sz="1425" dirty="0"/>
          </a:p>
        </p:txBody>
      </p:sp>
      <p:sp>
        <p:nvSpPr>
          <p:cNvPr id="30" name="Shape 25"/>
          <p:cNvSpPr/>
          <p:nvPr/>
        </p:nvSpPr>
        <p:spPr>
          <a:xfrm>
            <a:off x="1524000" y="3988743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1" name="Text 26"/>
          <p:cNvSpPr/>
          <p:nvPr/>
        </p:nvSpPr>
        <p:spPr>
          <a:xfrm>
            <a:off x="1657350" y="3722043"/>
            <a:ext cx="4913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ubuntu-restricted-extras</a:t>
            </a:r>
            <a:endParaRPr lang="en-US" sz="1425" dirty="0"/>
          </a:p>
        </p:txBody>
      </p:sp>
      <p:sp>
        <p:nvSpPr>
          <p:cNvPr id="32" name="Shape 27"/>
          <p:cNvSpPr/>
          <p:nvPr/>
        </p:nvSpPr>
        <p:spPr>
          <a:xfrm>
            <a:off x="6553200" y="3988743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3" name="Text 28"/>
          <p:cNvSpPr/>
          <p:nvPr/>
        </p:nvSpPr>
        <p:spPr>
          <a:xfrm>
            <a:off x="6686550" y="3722043"/>
            <a:ext cx="39715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Códecs y fuentes tipográficas</a:t>
            </a:r>
            <a:endParaRPr lang="en-US" sz="1425" dirty="0"/>
          </a:p>
        </p:txBody>
      </p:sp>
      <p:sp>
        <p:nvSpPr>
          <p:cNvPr id="34" name="Shape 29"/>
          <p:cNvSpPr/>
          <p:nvPr/>
        </p:nvSpPr>
        <p:spPr>
          <a:xfrm>
            <a:off x="1524000" y="3998268"/>
            <a:ext cx="5029200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5" name="Shape 30"/>
          <p:cNvSpPr/>
          <p:nvPr/>
        </p:nvSpPr>
        <p:spPr>
          <a:xfrm>
            <a:off x="1524000" y="4322118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6" name="Text 31"/>
          <p:cNvSpPr/>
          <p:nvPr/>
        </p:nvSpPr>
        <p:spPr>
          <a:xfrm>
            <a:off x="1657350" y="4055418"/>
            <a:ext cx="4913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ubuntu-drivers devices</a:t>
            </a:r>
            <a:endParaRPr lang="en-US" sz="1425" dirty="0"/>
          </a:p>
        </p:txBody>
      </p:sp>
      <p:sp>
        <p:nvSpPr>
          <p:cNvPr id="37" name="Shape 32"/>
          <p:cNvSpPr/>
          <p:nvPr/>
        </p:nvSpPr>
        <p:spPr>
          <a:xfrm>
            <a:off x="6553200" y="3998268"/>
            <a:ext cx="4114800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8" name="Shape 33"/>
          <p:cNvSpPr/>
          <p:nvPr/>
        </p:nvSpPr>
        <p:spPr>
          <a:xfrm>
            <a:off x="6553200" y="4322118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9" name="Text 34"/>
          <p:cNvSpPr/>
          <p:nvPr/>
        </p:nvSpPr>
        <p:spPr>
          <a:xfrm>
            <a:off x="6686550" y="4055418"/>
            <a:ext cx="39715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controladores disponibles</a:t>
            </a:r>
            <a:endParaRPr lang="en-US" sz="1425" dirty="0"/>
          </a:p>
        </p:txBody>
      </p:sp>
      <p:sp>
        <p:nvSpPr>
          <p:cNvPr id="40" name="Shape 35"/>
          <p:cNvSpPr/>
          <p:nvPr/>
        </p:nvSpPr>
        <p:spPr>
          <a:xfrm>
            <a:off x="1524000" y="4655493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1657350" y="4388793"/>
            <a:ext cx="4913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ubuntu-drivers install [driver]</a:t>
            </a:r>
            <a:endParaRPr lang="en-US" sz="1425" dirty="0"/>
          </a:p>
        </p:txBody>
      </p:sp>
      <p:sp>
        <p:nvSpPr>
          <p:cNvPr id="42" name="Shape 37"/>
          <p:cNvSpPr/>
          <p:nvPr/>
        </p:nvSpPr>
        <p:spPr>
          <a:xfrm>
            <a:off x="6553200" y="4655493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6686550" y="4388793"/>
            <a:ext cx="39715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 el controlador elegido</a:t>
            </a:r>
            <a:endParaRPr lang="en-US" sz="1425" dirty="0"/>
          </a:p>
        </p:txBody>
      </p:sp>
      <p:sp>
        <p:nvSpPr>
          <p:cNvPr id="44" name="Text 39"/>
          <p:cNvSpPr/>
          <p:nvPr/>
        </p:nvSpPr>
        <p:spPr>
          <a:xfrm>
            <a:off x="1524000" y="6165205"/>
            <a:ext cx="75922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 con base en las guías de instalación y configuración de Ubuntu 26.04 LTS.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090" cy="82569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0729020" y="6582817"/>
            <a:ext cx="1462980" cy="27518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216" y="13692"/>
            <a:ext cx="2084784" cy="69621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524000" y="1124694"/>
            <a:ext cx="100584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770"/>
              </a:lnSpc>
              <a:buNone/>
            </a:pPr>
            <a:r>
              <a:rPr lang="en-US" sz="3900" b="1" dirty="0">
                <a:solidFill>
                  <a:srgbClr val="1F2A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Resumen de comandos · etapas 4 a 6</a:t>
            </a:r>
            <a:endParaRPr lang="en-US" sz="3900" dirty="0"/>
          </a:p>
        </p:txBody>
      </p:sp>
      <p:sp>
        <p:nvSpPr>
          <p:cNvPr id="6" name="Shape 1"/>
          <p:cNvSpPr/>
          <p:nvPr/>
        </p:nvSpPr>
        <p:spPr>
          <a:xfrm>
            <a:off x="1524000" y="1936105"/>
            <a:ext cx="5029200" cy="4000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7" name="Text 2"/>
          <p:cNvSpPr/>
          <p:nvPr/>
        </p:nvSpPr>
        <p:spPr>
          <a:xfrm>
            <a:off x="1676400" y="2031355"/>
            <a:ext cx="48752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Comando</a:t>
            </a:r>
            <a:endParaRPr lang="en-US" sz="1425" dirty="0"/>
          </a:p>
        </p:txBody>
      </p:sp>
      <p:sp>
        <p:nvSpPr>
          <p:cNvPr id="8" name="Shape 3"/>
          <p:cNvSpPr/>
          <p:nvPr/>
        </p:nvSpPr>
        <p:spPr>
          <a:xfrm>
            <a:off x="6553200" y="1936105"/>
            <a:ext cx="4114800" cy="400050"/>
          </a:xfrm>
          <a:prstGeom prst="rect">
            <a:avLst/>
          </a:prstGeom>
          <a:solidFill>
            <a:srgbClr val="2585B6"/>
          </a:solidFill>
          <a:ln/>
        </p:spPr>
      </p:sp>
      <p:sp>
        <p:nvSpPr>
          <p:cNvPr id="9" name="Text 4"/>
          <p:cNvSpPr/>
          <p:nvPr/>
        </p:nvSpPr>
        <p:spPr>
          <a:xfrm>
            <a:off x="6705600" y="2031355"/>
            <a:ext cx="39334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Función</a:t>
            </a:r>
            <a:endParaRPr lang="en-US" sz="1425" dirty="0"/>
          </a:p>
        </p:txBody>
      </p:sp>
      <p:sp>
        <p:nvSpPr>
          <p:cNvPr id="10" name="Shape 5"/>
          <p:cNvSpPr/>
          <p:nvPr/>
        </p:nvSpPr>
        <p:spPr>
          <a:xfrm>
            <a:off x="1524000" y="2655243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1" name="Text 6"/>
          <p:cNvSpPr/>
          <p:nvPr/>
        </p:nvSpPr>
        <p:spPr>
          <a:xfrm>
            <a:off x="1657350" y="2393305"/>
            <a:ext cx="491337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gnome-software …plugins</a:t>
            </a:r>
            <a:endParaRPr lang="en-US" sz="1425" dirty="0"/>
          </a:p>
        </p:txBody>
      </p:sp>
      <p:sp>
        <p:nvSpPr>
          <p:cNvPr id="12" name="Shape 7"/>
          <p:cNvSpPr/>
          <p:nvPr/>
        </p:nvSpPr>
        <p:spPr>
          <a:xfrm>
            <a:off x="6553200" y="2655243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Text 8"/>
          <p:cNvSpPr/>
          <p:nvPr/>
        </p:nvSpPr>
        <p:spPr>
          <a:xfrm>
            <a:off x="6686550" y="2393305"/>
            <a:ext cx="397154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 con soporte Snap y Flatpak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1524000" y="2664768"/>
            <a:ext cx="5029200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5" name="Shape 10"/>
          <p:cNvSpPr/>
          <p:nvPr/>
        </p:nvSpPr>
        <p:spPr>
          <a:xfrm>
            <a:off x="1524000" y="2988618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6" name="Text 11"/>
          <p:cNvSpPr/>
          <p:nvPr/>
        </p:nvSpPr>
        <p:spPr>
          <a:xfrm>
            <a:off x="1657350" y="2721918"/>
            <a:ext cx="4913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flatpak</a:t>
            </a:r>
            <a:endParaRPr lang="en-US" sz="1425" dirty="0"/>
          </a:p>
        </p:txBody>
      </p:sp>
      <p:sp>
        <p:nvSpPr>
          <p:cNvPr id="17" name="Shape 12"/>
          <p:cNvSpPr/>
          <p:nvPr/>
        </p:nvSpPr>
        <p:spPr>
          <a:xfrm>
            <a:off x="6553200" y="2664768"/>
            <a:ext cx="4114800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8" name="Shape 13"/>
          <p:cNvSpPr/>
          <p:nvPr/>
        </p:nvSpPr>
        <p:spPr>
          <a:xfrm>
            <a:off x="6553200" y="2988618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9" name="Text 14"/>
          <p:cNvSpPr/>
          <p:nvPr/>
        </p:nvSpPr>
        <p:spPr>
          <a:xfrm>
            <a:off x="6686550" y="2721918"/>
            <a:ext cx="39715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ejecución Flatpak</a:t>
            </a:r>
            <a:endParaRPr lang="en-US" sz="1425" dirty="0"/>
          </a:p>
        </p:txBody>
      </p:sp>
      <p:sp>
        <p:nvSpPr>
          <p:cNvPr id="20" name="Shape 15"/>
          <p:cNvSpPr/>
          <p:nvPr/>
        </p:nvSpPr>
        <p:spPr>
          <a:xfrm>
            <a:off x="1524000" y="3321993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1" name="Text 16"/>
          <p:cNvSpPr/>
          <p:nvPr/>
        </p:nvSpPr>
        <p:spPr>
          <a:xfrm>
            <a:off x="1657350" y="3055293"/>
            <a:ext cx="4913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flatpak remote-add … flathub</a:t>
            </a:r>
            <a:endParaRPr lang="en-US" sz="1425" dirty="0"/>
          </a:p>
        </p:txBody>
      </p:sp>
      <p:sp>
        <p:nvSpPr>
          <p:cNvPr id="22" name="Shape 17"/>
          <p:cNvSpPr/>
          <p:nvPr/>
        </p:nvSpPr>
        <p:spPr>
          <a:xfrm>
            <a:off x="6553200" y="3321993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3" name="Text 18"/>
          <p:cNvSpPr/>
          <p:nvPr/>
        </p:nvSpPr>
        <p:spPr>
          <a:xfrm>
            <a:off x="6686550" y="3055293"/>
            <a:ext cx="39715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Añade el repositorio Flathub</a:t>
            </a:r>
            <a:endParaRPr lang="en-US" sz="1425" dirty="0"/>
          </a:p>
        </p:txBody>
      </p:sp>
      <p:sp>
        <p:nvSpPr>
          <p:cNvPr id="24" name="Shape 19"/>
          <p:cNvSpPr/>
          <p:nvPr/>
        </p:nvSpPr>
        <p:spPr>
          <a:xfrm>
            <a:off x="1524000" y="3331518"/>
            <a:ext cx="5029200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Shape 20"/>
          <p:cNvSpPr/>
          <p:nvPr/>
        </p:nvSpPr>
        <p:spPr>
          <a:xfrm>
            <a:off x="1524000" y="3655368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6" name="Text 21"/>
          <p:cNvSpPr/>
          <p:nvPr/>
        </p:nvSpPr>
        <p:spPr>
          <a:xfrm>
            <a:off x="1657350" y="3388668"/>
            <a:ext cx="4913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libfuse2t64</a:t>
            </a:r>
            <a:endParaRPr lang="en-US" sz="1425" dirty="0"/>
          </a:p>
        </p:txBody>
      </p:sp>
      <p:sp>
        <p:nvSpPr>
          <p:cNvPr id="27" name="Shape 22"/>
          <p:cNvSpPr/>
          <p:nvPr/>
        </p:nvSpPr>
        <p:spPr>
          <a:xfrm>
            <a:off x="6553200" y="3331518"/>
            <a:ext cx="4114800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8" name="Shape 23"/>
          <p:cNvSpPr/>
          <p:nvPr/>
        </p:nvSpPr>
        <p:spPr>
          <a:xfrm>
            <a:off x="6553200" y="3655368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29" name="Text 24"/>
          <p:cNvSpPr/>
          <p:nvPr/>
        </p:nvSpPr>
        <p:spPr>
          <a:xfrm>
            <a:off x="6686550" y="3388668"/>
            <a:ext cx="39715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Compatibilidad con AppImage</a:t>
            </a:r>
            <a:endParaRPr lang="en-US" sz="1425" dirty="0"/>
          </a:p>
        </p:txBody>
      </p:sp>
      <p:sp>
        <p:nvSpPr>
          <p:cNvPr id="30" name="Shape 25"/>
          <p:cNvSpPr/>
          <p:nvPr/>
        </p:nvSpPr>
        <p:spPr>
          <a:xfrm>
            <a:off x="1524000" y="3988743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1" name="Text 26"/>
          <p:cNvSpPr/>
          <p:nvPr/>
        </p:nvSpPr>
        <p:spPr>
          <a:xfrm>
            <a:off x="1657350" y="3722043"/>
            <a:ext cx="4913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a+x archivo.AppImage</a:t>
            </a:r>
            <a:endParaRPr lang="en-US" sz="1425" dirty="0"/>
          </a:p>
        </p:txBody>
      </p:sp>
      <p:sp>
        <p:nvSpPr>
          <p:cNvPr id="32" name="Shape 27"/>
          <p:cNvSpPr/>
          <p:nvPr/>
        </p:nvSpPr>
        <p:spPr>
          <a:xfrm>
            <a:off x="6553200" y="3988743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3" name="Text 28"/>
          <p:cNvSpPr/>
          <p:nvPr/>
        </p:nvSpPr>
        <p:spPr>
          <a:xfrm>
            <a:off x="6686550" y="3722043"/>
            <a:ext cx="39715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 de ejecución</a:t>
            </a:r>
            <a:endParaRPr lang="en-US" sz="1425" dirty="0"/>
          </a:p>
        </p:txBody>
      </p:sp>
      <p:sp>
        <p:nvSpPr>
          <p:cNvPr id="34" name="Shape 29"/>
          <p:cNvSpPr/>
          <p:nvPr/>
        </p:nvSpPr>
        <p:spPr>
          <a:xfrm>
            <a:off x="1524000" y="3998268"/>
            <a:ext cx="5029200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5" name="Shape 30"/>
          <p:cNvSpPr/>
          <p:nvPr/>
        </p:nvSpPr>
        <p:spPr>
          <a:xfrm>
            <a:off x="1524000" y="4322118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6" name="Text 31"/>
          <p:cNvSpPr/>
          <p:nvPr/>
        </p:nvSpPr>
        <p:spPr>
          <a:xfrm>
            <a:off x="1657350" y="4055418"/>
            <a:ext cx="4913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vlc git gnome-tweaks …</a:t>
            </a:r>
            <a:endParaRPr lang="en-US" sz="1425" dirty="0"/>
          </a:p>
        </p:txBody>
      </p:sp>
      <p:sp>
        <p:nvSpPr>
          <p:cNvPr id="37" name="Shape 32"/>
          <p:cNvSpPr/>
          <p:nvPr/>
        </p:nvSpPr>
        <p:spPr>
          <a:xfrm>
            <a:off x="6553200" y="3998268"/>
            <a:ext cx="4114800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8" name="Shape 33"/>
          <p:cNvSpPr/>
          <p:nvPr/>
        </p:nvSpPr>
        <p:spPr>
          <a:xfrm>
            <a:off x="6553200" y="4322118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9" name="Text 34"/>
          <p:cNvSpPr/>
          <p:nvPr/>
        </p:nvSpPr>
        <p:spPr>
          <a:xfrm>
            <a:off x="6686550" y="4055418"/>
            <a:ext cx="39715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esenciales</a:t>
            </a:r>
            <a:endParaRPr lang="en-US" sz="1425" dirty="0"/>
          </a:p>
        </p:txBody>
      </p:sp>
      <p:sp>
        <p:nvSpPr>
          <p:cNvPr id="40" name="Shape 35"/>
          <p:cNvSpPr/>
          <p:nvPr/>
        </p:nvSpPr>
        <p:spPr>
          <a:xfrm>
            <a:off x="1524000" y="4655493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1" name="Text 36"/>
          <p:cNvSpPr/>
          <p:nvPr/>
        </p:nvSpPr>
        <p:spPr>
          <a:xfrm>
            <a:off x="1657350" y="4388793"/>
            <a:ext cx="4913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visudo</a:t>
            </a:r>
            <a:endParaRPr lang="en-US" sz="1425" dirty="0"/>
          </a:p>
        </p:txBody>
      </p:sp>
      <p:sp>
        <p:nvSpPr>
          <p:cNvPr id="42" name="Shape 37"/>
          <p:cNvSpPr/>
          <p:nvPr/>
        </p:nvSpPr>
        <p:spPr>
          <a:xfrm>
            <a:off x="6553200" y="4655493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3" name="Text 38"/>
          <p:cNvSpPr/>
          <p:nvPr/>
        </p:nvSpPr>
        <p:spPr>
          <a:xfrm>
            <a:off x="6686550" y="4388793"/>
            <a:ext cx="39715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segura de sudoers</a:t>
            </a:r>
            <a:endParaRPr lang="en-US" sz="1425" dirty="0"/>
          </a:p>
        </p:txBody>
      </p:sp>
      <p:sp>
        <p:nvSpPr>
          <p:cNvPr id="44" name="Shape 39"/>
          <p:cNvSpPr/>
          <p:nvPr/>
        </p:nvSpPr>
        <p:spPr>
          <a:xfrm>
            <a:off x="1524000" y="4665018"/>
            <a:ext cx="5029200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5" name="Shape 40"/>
          <p:cNvSpPr/>
          <p:nvPr/>
        </p:nvSpPr>
        <p:spPr>
          <a:xfrm>
            <a:off x="1524000" y="4988868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6" name="Text 41"/>
          <p:cNvSpPr/>
          <p:nvPr/>
        </p:nvSpPr>
        <p:spPr>
          <a:xfrm>
            <a:off x="1657350" y="4722168"/>
            <a:ext cx="4913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ufw enable</a:t>
            </a:r>
            <a:endParaRPr lang="en-US" sz="1425" dirty="0"/>
          </a:p>
        </p:txBody>
      </p:sp>
      <p:sp>
        <p:nvSpPr>
          <p:cNvPr id="47" name="Shape 42"/>
          <p:cNvSpPr/>
          <p:nvPr/>
        </p:nvSpPr>
        <p:spPr>
          <a:xfrm>
            <a:off x="6553200" y="4665018"/>
            <a:ext cx="4114800" cy="333375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8" name="Shape 43"/>
          <p:cNvSpPr/>
          <p:nvPr/>
        </p:nvSpPr>
        <p:spPr>
          <a:xfrm>
            <a:off x="6553200" y="4988868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49" name="Text 44"/>
          <p:cNvSpPr/>
          <p:nvPr/>
        </p:nvSpPr>
        <p:spPr>
          <a:xfrm>
            <a:off x="6686550" y="4722168"/>
            <a:ext cx="39715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 el cortafuegos</a:t>
            </a:r>
            <a:endParaRPr lang="en-US" sz="1425" dirty="0"/>
          </a:p>
        </p:txBody>
      </p:sp>
      <p:sp>
        <p:nvSpPr>
          <p:cNvPr id="50" name="Shape 45"/>
          <p:cNvSpPr/>
          <p:nvPr/>
        </p:nvSpPr>
        <p:spPr>
          <a:xfrm>
            <a:off x="1524000" y="5322243"/>
            <a:ext cx="50292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1" name="Text 46"/>
          <p:cNvSpPr/>
          <p:nvPr/>
        </p:nvSpPr>
        <p:spPr>
          <a:xfrm>
            <a:off x="1657350" y="5055543"/>
            <a:ext cx="4913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C4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timeshift --create</a:t>
            </a:r>
            <a:endParaRPr lang="en-US" sz="1425" dirty="0"/>
          </a:p>
        </p:txBody>
      </p:sp>
      <p:sp>
        <p:nvSpPr>
          <p:cNvPr id="52" name="Shape 47"/>
          <p:cNvSpPr/>
          <p:nvPr/>
        </p:nvSpPr>
        <p:spPr>
          <a:xfrm>
            <a:off x="6553200" y="5322243"/>
            <a:ext cx="4114800" cy="9525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53" name="Text 48"/>
          <p:cNvSpPr/>
          <p:nvPr/>
        </p:nvSpPr>
        <p:spPr>
          <a:xfrm>
            <a:off x="6686550" y="5055543"/>
            <a:ext cx="39715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punto de restauración</a:t>
            </a:r>
            <a:endParaRPr lang="en-US" sz="1425" dirty="0"/>
          </a:p>
        </p:txBody>
      </p:sp>
      <p:sp>
        <p:nvSpPr>
          <p:cNvPr id="54" name="Text 49"/>
          <p:cNvSpPr/>
          <p:nvPr/>
        </p:nvSpPr>
        <p:spPr>
          <a:xfrm>
            <a:off x="1524000" y="6165205"/>
            <a:ext cx="75922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 con base en las guías de instalación y configuración de Ubuntu 26.04 LTS.</a:t>
            </a:r>
            <a:endParaRPr lang="en-US" sz="1200" dirty="0"/>
          </a:p>
        </p:txBody>
      </p:sp>
      <p:sp>
        <p:nvSpPr>
          <p:cNvPr id="55" name="Text 50"/>
          <p:cNvSpPr/>
          <p:nvPr/>
        </p:nvSpPr>
        <p:spPr>
          <a:xfrm>
            <a:off x="11559332" y="6549479"/>
            <a:ext cx="2457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2610" b="1261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290" y="1505694"/>
            <a:ext cx="4023271" cy="285422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118760" y="4588520"/>
            <a:ext cx="5954331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Angelmiro Quiroz Parra · Facultad de Ingenierías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3118760" y="4954191"/>
            <a:ext cx="5954331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aparra19@udi.edu.co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2026-09-24T01:21:23Z</dcterms:created>
  <dcterms:modified xsi:type="dcterms:W3CDTF">2026-09-24T01:21:23Z</dcterms:modified>
</cp:coreProperties>
</file>