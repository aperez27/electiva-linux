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1124694"/>
            <a:ext cx="2229296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1238994"/>
            <a:ext cx="16958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GNU/LINUX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2029569"/>
            <a:ext cx="5415534" cy="1861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 archivos, directorios, usuarios y grupos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524000" y="4081165"/>
            <a:ext cx="471421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esenciales · caso de estudio · glosario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524000" y="5052715"/>
            <a:ext cx="578358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Ing. Angelmiro Quiroz Parra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24000" y="5372695"/>
            <a:ext cx="578358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aparra19@udi.edu.co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470225"/>
            <a:ext cx="3429000" cy="31236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2228999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6" name="Text 1"/>
          <p:cNvSpPr/>
          <p:nvPr/>
        </p:nvSpPr>
        <p:spPr>
          <a:xfrm>
            <a:off x="1828800" y="1238994"/>
            <a:ext cx="16955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CONTENIDO</a:t>
            </a:r>
            <a:endParaRPr lang="en-US" sz="2025" dirty="0"/>
          </a:p>
        </p:txBody>
      </p:sp>
      <p:sp>
        <p:nvSpPr>
          <p:cNvPr id="7" name="Text 2"/>
          <p:cNvSpPr/>
          <p:nvPr/>
        </p:nvSpPr>
        <p:spPr>
          <a:xfrm>
            <a:off x="1645801" y="2029569"/>
            <a:ext cx="99030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y gestión de directorios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1645801" y="2496294"/>
            <a:ext cx="99030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Manipulación, lectura y búsqueda de archivos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1645801" y="2963019"/>
            <a:ext cx="99030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Usuarios, grupos y propiedad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645801" y="3429744"/>
            <a:ext cx="99030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básicos y especiales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645801" y="3896469"/>
            <a:ext cx="99030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estudio: laboratorio del semillero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1645801" y="4363194"/>
            <a:ext cx="99030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de comandos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746772"/>
            <a:ext cx="2424559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861072"/>
            <a:ext cx="18911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DIRECTORIOS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499247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Navegar y organizar el sistema de ficheros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Navegación entre directorios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256029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122884"/>
            <a:ext cx="23322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575" dirty="0"/>
          </a:p>
        </p:txBody>
      </p:sp>
      <p:sp>
        <p:nvSpPr>
          <p:cNvPr id="8" name="Shape 3"/>
          <p:cNvSpPr/>
          <p:nvPr/>
        </p:nvSpPr>
        <p:spPr>
          <a:xfrm>
            <a:off x="4084290" y="2037159"/>
            <a:ext cx="658371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4236690" y="2122884"/>
            <a:ext cx="647642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575" dirty="0"/>
          </a:p>
        </p:txBody>
      </p:sp>
      <p:sp>
        <p:nvSpPr>
          <p:cNvPr id="10" name="Shape 5"/>
          <p:cNvSpPr/>
          <p:nvPr/>
        </p:nvSpPr>
        <p:spPr>
          <a:xfrm>
            <a:off x="1524000" y="28420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76400" y="2532459"/>
            <a:ext cx="233229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575" dirty="0"/>
          </a:p>
        </p:txBody>
      </p:sp>
      <p:sp>
        <p:nvSpPr>
          <p:cNvPr id="12" name="Shape 7"/>
          <p:cNvSpPr/>
          <p:nvPr/>
        </p:nvSpPr>
        <p:spPr>
          <a:xfrm>
            <a:off x="4084290" y="2842022"/>
            <a:ext cx="6583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4236690" y="2532459"/>
            <a:ext cx="647642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ruta del directorio de trabajo</a:t>
            </a:r>
            <a:endParaRPr lang="en-US" sz="1575" dirty="0"/>
          </a:p>
        </p:txBody>
      </p:sp>
      <p:sp>
        <p:nvSpPr>
          <p:cNvPr id="14" name="Shape 9"/>
          <p:cNvSpPr/>
          <p:nvPr/>
        </p:nvSpPr>
        <p:spPr>
          <a:xfrm>
            <a:off x="1524000" y="2851547"/>
            <a:ext cx="256029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32515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76400" y="2937272"/>
            <a:ext cx="2332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/var/log</a:t>
            </a:r>
            <a:endParaRPr lang="en-US" sz="1575" dirty="0"/>
          </a:p>
        </p:txBody>
      </p:sp>
      <p:sp>
        <p:nvSpPr>
          <p:cNvPr id="17" name="Shape 12"/>
          <p:cNvSpPr/>
          <p:nvPr/>
        </p:nvSpPr>
        <p:spPr>
          <a:xfrm>
            <a:off x="4084290" y="2851547"/>
            <a:ext cx="658371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8" name="Shape 13"/>
          <p:cNvSpPr/>
          <p:nvPr/>
        </p:nvSpPr>
        <p:spPr>
          <a:xfrm>
            <a:off x="4084290" y="3251597"/>
            <a:ext cx="6583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4236690" y="2937272"/>
            <a:ext cx="64764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en el directorio indicado</a:t>
            </a:r>
            <a:endParaRPr lang="en-US" sz="1575" dirty="0"/>
          </a:p>
        </p:txBody>
      </p:sp>
      <p:sp>
        <p:nvSpPr>
          <p:cNvPr id="20" name="Shape 15"/>
          <p:cNvSpPr/>
          <p:nvPr/>
        </p:nvSpPr>
        <p:spPr>
          <a:xfrm>
            <a:off x="1524000" y="36611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76400" y="3346847"/>
            <a:ext cx="2332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 · cd ../..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4084290" y="3661172"/>
            <a:ext cx="6583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4236690" y="3346847"/>
            <a:ext cx="64764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Retrocede uno o dos niveles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1524000" y="3670697"/>
            <a:ext cx="256029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1524000" y="40707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1676400" y="3756422"/>
            <a:ext cx="2332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- · cd ~user1</a:t>
            </a:r>
            <a:endParaRPr lang="en-US" sz="1575" dirty="0"/>
          </a:p>
        </p:txBody>
      </p:sp>
      <p:sp>
        <p:nvSpPr>
          <p:cNvPr id="27" name="Shape 22"/>
          <p:cNvSpPr/>
          <p:nvPr/>
        </p:nvSpPr>
        <p:spPr>
          <a:xfrm>
            <a:off x="4084290" y="3670697"/>
            <a:ext cx="658371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Shape 23"/>
          <p:cNvSpPr/>
          <p:nvPr/>
        </p:nvSpPr>
        <p:spPr>
          <a:xfrm>
            <a:off x="4084290" y="4070747"/>
            <a:ext cx="6583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4236690" y="3756422"/>
            <a:ext cx="64764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Regresa al directorio anterior · va al home de user1</a:t>
            </a:r>
            <a:endParaRPr lang="en-US" sz="1575" dirty="0"/>
          </a:p>
        </p:txBody>
      </p:sp>
      <p:sp>
        <p:nvSpPr>
          <p:cNvPr id="30" name="Shape 25"/>
          <p:cNvSpPr/>
          <p:nvPr/>
        </p:nvSpPr>
        <p:spPr>
          <a:xfrm>
            <a:off x="1524000" y="44803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1676400" y="4165997"/>
            <a:ext cx="2332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575" dirty="0"/>
          </a:p>
        </p:txBody>
      </p:sp>
      <p:sp>
        <p:nvSpPr>
          <p:cNvPr id="32" name="Shape 27"/>
          <p:cNvSpPr/>
          <p:nvPr/>
        </p:nvSpPr>
        <p:spPr>
          <a:xfrm>
            <a:off x="4084290" y="4480322"/>
            <a:ext cx="6583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4236690" y="4165997"/>
            <a:ext cx="64764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todo, incluidos ocultos (-a), con detalles (-l)</a:t>
            </a:r>
            <a:endParaRPr lang="en-US" sz="1575" dirty="0"/>
          </a:p>
        </p:txBody>
      </p:sp>
      <p:sp>
        <p:nvSpPr>
          <p:cNvPr id="34" name="Shape 29"/>
          <p:cNvSpPr/>
          <p:nvPr/>
        </p:nvSpPr>
        <p:spPr>
          <a:xfrm>
            <a:off x="1524000" y="4489847"/>
            <a:ext cx="256029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1524000" y="48898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76400" y="4575572"/>
            <a:ext cx="2332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-lh · ls -F</a:t>
            </a:r>
            <a:endParaRPr lang="en-US" sz="1575" dirty="0"/>
          </a:p>
        </p:txBody>
      </p:sp>
      <p:sp>
        <p:nvSpPr>
          <p:cNvPr id="37" name="Shape 32"/>
          <p:cNvSpPr/>
          <p:nvPr/>
        </p:nvSpPr>
        <p:spPr>
          <a:xfrm>
            <a:off x="4084290" y="4489847"/>
            <a:ext cx="658371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4084290" y="4889897"/>
            <a:ext cx="6583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4236690" y="4575572"/>
            <a:ext cx="64764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Tamaños legibles y permisos · marca el tipo de cada entrada</a:t>
            </a:r>
            <a:endParaRPr lang="en-US" sz="1575" dirty="0"/>
          </a:p>
        </p:txBody>
      </p:sp>
      <p:sp>
        <p:nvSpPr>
          <p:cNvPr id="40" name="Shape 35"/>
          <p:cNvSpPr/>
          <p:nvPr/>
        </p:nvSpPr>
        <p:spPr>
          <a:xfrm>
            <a:off x="1524000" y="52994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1676400" y="4985147"/>
            <a:ext cx="2332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575" dirty="0"/>
          </a:p>
        </p:txBody>
      </p:sp>
      <p:sp>
        <p:nvSpPr>
          <p:cNvPr id="42" name="Shape 37"/>
          <p:cNvSpPr/>
          <p:nvPr/>
        </p:nvSpPr>
        <p:spPr>
          <a:xfrm>
            <a:off x="4084290" y="5299472"/>
            <a:ext cx="6583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4236690" y="4985147"/>
            <a:ext cx="64764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ficheros y carpetas en forma de árbol</a:t>
            </a:r>
            <a:endParaRPr lang="en-US" sz="1575" dirty="0"/>
          </a:p>
        </p:txBody>
      </p:sp>
      <p:sp>
        <p:nvSpPr>
          <p:cNvPr id="44" name="Text 39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Crear y eliminar directorios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237738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13359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3901380" y="2037159"/>
            <a:ext cx="4206329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4034730" y="2113359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Comportamiento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8107710" y="2037159"/>
            <a:ext cx="25602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8241060" y="2113359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562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75309"/>
            <a:ext cx="21868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dir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3901380" y="275629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4034730" y="2475309"/>
            <a:ext cx="406581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carpeta vacía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8107710" y="27562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8241060" y="2475309"/>
            <a:ext cx="237039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docs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6582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1277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4202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d1 d2 d3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3901380" y="2765822"/>
            <a:ext cx="420632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3901380" y="3127772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4034730" y="2842022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varias carpetas a la vez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8107710" y="276582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8107710" y="31277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8241060" y="284202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img notas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7087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213497"/>
            <a:ext cx="2186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ruta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3901380" y="370879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4034730" y="3213497"/>
            <a:ext cx="40658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la estructura anidada y los padres que falten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8107710" y="37087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8241060" y="3213497"/>
            <a:ext cx="23703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/tmp/a/b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718322"/>
            <a:ext cx="237738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28982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794522"/>
            <a:ext cx="2186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"mi dir"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3901380" y="3718322"/>
            <a:ext cx="4206329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3901380" y="4289822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4034730" y="3794522"/>
            <a:ext cx="40658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con espacios: comillas o barra invertida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8107710" y="3718322"/>
            <a:ext cx="256029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8107710" y="42898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8241060" y="3794522"/>
            <a:ext cx="23703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"mis docs"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6612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4375547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 dir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3901380" y="466129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4034730" y="4375547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una carpeta solo si está vacía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8107710" y="46612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8241060" y="4375547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 vacia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67082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50327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74702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 -p ruta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3901380" y="4670822"/>
            <a:ext cx="420632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3901380" y="5032772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4034730" y="4747022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de forma ascendente si quedan vacías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8107710" y="467082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8107710" y="50327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8241060" y="474702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 -p a/b/c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540424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5118497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 dir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3901380" y="540424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4034730" y="5118497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una carpeta con todo su contenido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8107710" y="54042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8241060" y="5118497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 proyecto_old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541377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577572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548997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dir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3901380" y="5413772"/>
            <a:ext cx="420632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3901380" y="5775722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4034730" y="5489972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que -r, pero sin pedir confirmación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8107710" y="541377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8107710" y="57757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8241060" y="548997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cache_dir</a:t>
            </a:r>
            <a:endParaRPr lang="en-US" sz="1425" dirty="0"/>
          </a:p>
        </p:txBody>
      </p:sp>
      <p:sp>
        <p:nvSpPr>
          <p:cNvPr id="72" name="Text 67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73" name="Text 68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2525762"/>
            <a:ext cx="9144000" cy="24098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Shape 1"/>
          <p:cNvSpPr/>
          <p:nvPr/>
        </p:nvSpPr>
        <p:spPr>
          <a:xfrm>
            <a:off x="1524000" y="2525762"/>
            <a:ext cx="57150" cy="2409825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7" name="Text 2"/>
          <p:cNvSpPr/>
          <p:nvPr/>
        </p:nvSpPr>
        <p:spPr>
          <a:xfrm>
            <a:off x="1962150" y="2906762"/>
            <a:ext cx="123884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</a:t>
            </a:r>
            <a:endParaRPr lang="en-US" sz="2775" dirty="0"/>
          </a:p>
        </p:txBody>
      </p:sp>
      <p:sp>
        <p:nvSpPr>
          <p:cNvPr id="8" name="Text 3"/>
          <p:cNvSpPr/>
          <p:nvPr/>
        </p:nvSpPr>
        <p:spPr>
          <a:xfrm>
            <a:off x="1962150" y="2916287"/>
            <a:ext cx="8420383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75" i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directorios y su contenido de forma definitiva, sin pasar por la papelera. Verifica siempre la ubicación con</a:t>
            </a:r>
            <a:endParaRPr lang="en-US" sz="2775" dirty="0"/>
          </a:p>
        </p:txBody>
      </p:sp>
      <p:sp>
        <p:nvSpPr>
          <p:cNvPr id="9" name="Text 4"/>
          <p:cNvSpPr/>
          <p:nvPr/>
        </p:nvSpPr>
        <p:spPr>
          <a:xfrm>
            <a:off x="4587478" y="3716387"/>
            <a:ext cx="65752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2775" dirty="0"/>
          </a:p>
        </p:txBody>
      </p:sp>
      <p:sp>
        <p:nvSpPr>
          <p:cNvPr id="10" name="Text 5"/>
          <p:cNvSpPr/>
          <p:nvPr/>
        </p:nvSpPr>
        <p:spPr>
          <a:xfrm>
            <a:off x="5266581" y="3725912"/>
            <a:ext cx="31684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75" i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ejecutarlo.</a:t>
            </a:r>
            <a:endParaRPr lang="en-US" sz="2775" dirty="0"/>
          </a:p>
        </p:txBody>
      </p:sp>
      <p:sp>
        <p:nvSpPr>
          <p:cNvPr id="11" name="Text 6"/>
          <p:cNvSpPr/>
          <p:nvPr/>
        </p:nvSpPr>
        <p:spPr>
          <a:xfrm>
            <a:off x="1962150" y="4278362"/>
            <a:ext cx="91573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4" b="1" dirty="0">
                <a:solidFill>
                  <a:srgbClr val="4454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Advertencia de seguridad · Guía de referencia de comandos Linux</a:t>
            </a:r>
            <a:endParaRPr lang="en-US" sz="1804" dirty="0"/>
          </a:p>
        </p:txBody>
      </p:sp>
      <p:sp>
        <p:nvSpPr>
          <p:cNvPr id="12" name="Text 7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746772"/>
            <a:ext cx="1994446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861072"/>
            <a:ext cx="14610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ARCHIVOS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499247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Crear, copiar, mover, leer y buscar archivos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Manipulación de archivos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237738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13359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3901380" y="2037159"/>
            <a:ext cx="402342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4034730" y="2113359"/>
            <a:ext cx="38774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Comportamiento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7924800" y="2037159"/>
            <a:ext cx="274320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8058150" y="2113359"/>
            <a:ext cx="25587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562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75309"/>
            <a:ext cx="21868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archivo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3901380" y="2756297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4034730" y="2475309"/>
            <a:ext cx="387742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archivo vacío o actualiza su fecha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7924800" y="2756297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8058150" y="2475309"/>
            <a:ext cx="255879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index.html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6582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1277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4202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origen destino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3901380" y="2765822"/>
            <a:ext cx="402342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3901380" y="3127772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4034730" y="2842022"/>
            <a:ext cx="38774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un archivo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7924800" y="2765822"/>
            <a:ext cx="27432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924800" y="3127772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8058150" y="2842022"/>
            <a:ext cx="25587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notas.txt copia.txt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7087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213497"/>
            <a:ext cx="2186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· cp -a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3901380" y="3708797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4034730" y="3213497"/>
            <a:ext cx="387742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directorios (recursivo · conserva atributos)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7924800" y="3708797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8058150" y="3213497"/>
            <a:ext cx="255879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/app /backup/app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71832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0802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79452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origen destino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3901380" y="3718322"/>
            <a:ext cx="402342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3901380" y="4080272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4034730" y="3794522"/>
            <a:ext cx="38774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Mueve o renombra archivos y carpetas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7924800" y="3718322"/>
            <a:ext cx="27432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924800" y="4080272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8058150" y="3794522"/>
            <a:ext cx="25587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foto.jpg foto_old.jpg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45174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4165997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-s objetivo enlace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3901380" y="4451747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4034730" y="4165997"/>
            <a:ext cx="38774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enlace simbólico (acceso directo)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7924800" y="4451747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8058150" y="4165997"/>
            <a:ext cx="25587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-s /var/www/html web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46127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82322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53747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objetivo enlace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3901380" y="4461272"/>
            <a:ext cx="402342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3901380" y="4823222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4034730" y="4537472"/>
            <a:ext cx="38774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enlace físico al mismo contenido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7924800" y="4461272"/>
            <a:ext cx="27432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7924800" y="4823222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8058150" y="4537472"/>
            <a:ext cx="25587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file1 lnk1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51946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4908947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archivo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3901380" y="5194697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4034730" y="4908947"/>
            <a:ext cx="38774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 el tipo de contenido del archivo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7924800" y="5194697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8058150" y="4908947"/>
            <a:ext cx="25587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informe.pdf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520422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55661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528042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-f archivo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3901380" y="5204222"/>
            <a:ext cx="402342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3901380" y="5566172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4034730" y="5280422"/>
            <a:ext cx="387742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un archivo sin pedir confirmación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7924800" y="5204222"/>
            <a:ext cx="27432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7924800" y="5566172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8058150" y="5280422"/>
            <a:ext cx="255879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-f file1</a:t>
            </a:r>
            <a:endParaRPr lang="en-US" sz="1425" dirty="0"/>
          </a:p>
        </p:txBody>
      </p:sp>
      <p:sp>
        <p:nvSpPr>
          <p:cNvPr id="72" name="Text 67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73" name="Text 68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Consultar el contenido y el tamaño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237738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122884"/>
            <a:ext cx="21487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575" dirty="0"/>
          </a:p>
        </p:txBody>
      </p:sp>
      <p:sp>
        <p:nvSpPr>
          <p:cNvPr id="8" name="Shape 3"/>
          <p:cNvSpPr/>
          <p:nvPr/>
        </p:nvSpPr>
        <p:spPr>
          <a:xfrm>
            <a:off x="3901380" y="2037159"/>
            <a:ext cx="402342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4053780" y="2122884"/>
            <a:ext cx="38393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Comportamiento</a:t>
            </a:r>
            <a:endParaRPr lang="en-US" sz="1575" dirty="0"/>
          </a:p>
        </p:txBody>
      </p:sp>
      <p:sp>
        <p:nvSpPr>
          <p:cNvPr id="10" name="Shape 5"/>
          <p:cNvSpPr/>
          <p:nvPr/>
        </p:nvSpPr>
        <p:spPr>
          <a:xfrm>
            <a:off x="7924800" y="2037159"/>
            <a:ext cx="274320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8077200" y="2122884"/>
            <a:ext cx="252069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1575" dirty="0"/>
          </a:p>
        </p:txBody>
      </p:sp>
      <p:sp>
        <p:nvSpPr>
          <p:cNvPr id="12" name="Shape 7"/>
          <p:cNvSpPr/>
          <p:nvPr/>
        </p:nvSpPr>
        <p:spPr>
          <a:xfrm>
            <a:off x="1524000" y="284202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76400" y="2532459"/>
            <a:ext cx="214878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archivo</a:t>
            </a:r>
            <a:endParaRPr lang="en-US" sz="1575" dirty="0"/>
          </a:p>
        </p:txBody>
      </p:sp>
      <p:sp>
        <p:nvSpPr>
          <p:cNvPr id="14" name="Shape 9"/>
          <p:cNvSpPr/>
          <p:nvPr/>
        </p:nvSpPr>
        <p:spPr>
          <a:xfrm>
            <a:off x="3901380" y="2842022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4053780" y="2532459"/>
            <a:ext cx="383932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contenido completo</a:t>
            </a:r>
            <a:endParaRPr lang="en-US" sz="1575" dirty="0"/>
          </a:p>
        </p:txBody>
      </p:sp>
      <p:sp>
        <p:nvSpPr>
          <p:cNvPr id="16" name="Shape 11"/>
          <p:cNvSpPr/>
          <p:nvPr/>
        </p:nvSpPr>
        <p:spPr>
          <a:xfrm>
            <a:off x="7924800" y="2842022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8077200" y="2532459"/>
            <a:ext cx="252069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/etc/hosts</a:t>
            </a:r>
            <a:endParaRPr lang="en-US" sz="1575" dirty="0"/>
          </a:p>
        </p:txBody>
      </p:sp>
      <p:sp>
        <p:nvSpPr>
          <p:cNvPr id="18" name="Shape 13"/>
          <p:cNvSpPr/>
          <p:nvPr/>
        </p:nvSpPr>
        <p:spPr>
          <a:xfrm>
            <a:off x="1524000" y="2851547"/>
            <a:ext cx="237738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2515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76400" y="2937272"/>
            <a:ext cx="214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 archivo</a:t>
            </a:r>
            <a:endParaRPr lang="en-US" sz="1575" dirty="0"/>
          </a:p>
        </p:txBody>
      </p:sp>
      <p:sp>
        <p:nvSpPr>
          <p:cNvPr id="21" name="Shape 16"/>
          <p:cNvSpPr/>
          <p:nvPr/>
        </p:nvSpPr>
        <p:spPr>
          <a:xfrm>
            <a:off x="3901380" y="2851547"/>
            <a:ext cx="402342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3901380" y="3251597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4053780" y="2937272"/>
            <a:ext cx="38393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contenido en orden inverso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7924800" y="2851547"/>
            <a:ext cx="27432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924800" y="3251597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8077200" y="2937272"/>
            <a:ext cx="2520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 registro.txt</a:t>
            </a:r>
            <a:endParaRPr lang="en-US" sz="1575" dirty="0"/>
          </a:p>
        </p:txBody>
      </p:sp>
      <p:sp>
        <p:nvSpPr>
          <p:cNvPr id="27" name="Shape 22"/>
          <p:cNvSpPr/>
          <p:nvPr/>
        </p:nvSpPr>
        <p:spPr>
          <a:xfrm>
            <a:off x="1524000" y="36611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76400" y="3346847"/>
            <a:ext cx="214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archivo</a:t>
            </a:r>
            <a:endParaRPr lang="en-US" sz="1575" dirty="0"/>
          </a:p>
        </p:txBody>
      </p:sp>
      <p:sp>
        <p:nvSpPr>
          <p:cNvPr id="29" name="Shape 24"/>
          <p:cNvSpPr/>
          <p:nvPr/>
        </p:nvSpPr>
        <p:spPr>
          <a:xfrm>
            <a:off x="3901380" y="3661172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4053780" y="3346847"/>
            <a:ext cx="38393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 el archivo de forma interactiva</a:t>
            </a:r>
            <a:endParaRPr lang="en-US" sz="1575" dirty="0"/>
          </a:p>
        </p:txBody>
      </p:sp>
      <p:sp>
        <p:nvSpPr>
          <p:cNvPr id="31" name="Shape 26"/>
          <p:cNvSpPr/>
          <p:nvPr/>
        </p:nvSpPr>
        <p:spPr>
          <a:xfrm>
            <a:off x="7924800" y="3661172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8077200" y="3346847"/>
            <a:ext cx="2520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/var/log/syslog</a:t>
            </a:r>
            <a:endParaRPr lang="en-US" sz="1575" dirty="0"/>
          </a:p>
        </p:txBody>
      </p:sp>
      <p:sp>
        <p:nvSpPr>
          <p:cNvPr id="33" name="Shape 28"/>
          <p:cNvSpPr/>
          <p:nvPr/>
        </p:nvSpPr>
        <p:spPr>
          <a:xfrm>
            <a:off x="1524000" y="3670697"/>
            <a:ext cx="237738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07074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76400" y="3756422"/>
            <a:ext cx="214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archivo</a:t>
            </a:r>
            <a:endParaRPr lang="en-US" sz="1575" dirty="0"/>
          </a:p>
        </p:txBody>
      </p:sp>
      <p:sp>
        <p:nvSpPr>
          <p:cNvPr id="36" name="Shape 31"/>
          <p:cNvSpPr/>
          <p:nvPr/>
        </p:nvSpPr>
        <p:spPr>
          <a:xfrm>
            <a:off x="3901380" y="3670697"/>
            <a:ext cx="402342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3901380" y="4070747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4053780" y="3756422"/>
            <a:ext cx="38393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las primeras líneas</a:t>
            </a:r>
            <a:endParaRPr lang="en-US" sz="1575" dirty="0"/>
          </a:p>
        </p:txBody>
      </p:sp>
      <p:sp>
        <p:nvSpPr>
          <p:cNvPr id="39" name="Shape 34"/>
          <p:cNvSpPr/>
          <p:nvPr/>
        </p:nvSpPr>
        <p:spPr>
          <a:xfrm>
            <a:off x="7924800" y="3670697"/>
            <a:ext cx="27432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924800" y="4070747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8077200" y="3756422"/>
            <a:ext cx="2520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5 datos.csv</a:t>
            </a:r>
            <a:endParaRPr lang="en-US" sz="1575" dirty="0"/>
          </a:p>
        </p:txBody>
      </p:sp>
      <p:sp>
        <p:nvSpPr>
          <p:cNvPr id="42" name="Shape 37"/>
          <p:cNvSpPr/>
          <p:nvPr/>
        </p:nvSpPr>
        <p:spPr>
          <a:xfrm>
            <a:off x="1524000" y="470892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76400" y="4165997"/>
            <a:ext cx="21487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archivo</a:t>
            </a:r>
            <a:endParaRPr lang="en-US" sz="1575" dirty="0"/>
          </a:p>
        </p:txBody>
      </p:sp>
      <p:sp>
        <p:nvSpPr>
          <p:cNvPr id="44" name="Shape 39"/>
          <p:cNvSpPr/>
          <p:nvPr/>
        </p:nvSpPr>
        <p:spPr>
          <a:xfrm>
            <a:off x="3901380" y="4708922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4053780" y="4165997"/>
            <a:ext cx="38393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las últimas líneas y sigue los cambios</a:t>
            </a:r>
            <a:endParaRPr lang="en-US" sz="1575" dirty="0"/>
          </a:p>
        </p:txBody>
      </p:sp>
      <p:sp>
        <p:nvSpPr>
          <p:cNvPr id="46" name="Shape 41"/>
          <p:cNvSpPr/>
          <p:nvPr/>
        </p:nvSpPr>
        <p:spPr>
          <a:xfrm>
            <a:off x="7924800" y="4708922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8077200" y="4165997"/>
            <a:ext cx="25206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/var/log/syslog</a:t>
            </a:r>
            <a:endParaRPr lang="en-US" sz="1575" dirty="0"/>
          </a:p>
        </p:txBody>
      </p:sp>
      <p:sp>
        <p:nvSpPr>
          <p:cNvPr id="48" name="Shape 43"/>
          <p:cNvSpPr/>
          <p:nvPr/>
        </p:nvSpPr>
        <p:spPr>
          <a:xfrm>
            <a:off x="1524000" y="4718447"/>
            <a:ext cx="237738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51184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76400" y="4804172"/>
            <a:ext cx="21487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dir</a:t>
            </a:r>
            <a:endParaRPr lang="en-US" sz="1575" dirty="0"/>
          </a:p>
        </p:txBody>
      </p:sp>
      <p:sp>
        <p:nvSpPr>
          <p:cNvPr id="51" name="Shape 46"/>
          <p:cNvSpPr/>
          <p:nvPr/>
        </p:nvSpPr>
        <p:spPr>
          <a:xfrm>
            <a:off x="3901380" y="4718447"/>
            <a:ext cx="402342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3901380" y="5118497"/>
            <a:ext cx="40234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4053780" y="4804172"/>
            <a:ext cx="38393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 el espacio que ocupa un directorio</a:t>
            </a:r>
            <a:endParaRPr lang="en-US" sz="1575" dirty="0"/>
          </a:p>
        </p:txBody>
      </p:sp>
      <p:sp>
        <p:nvSpPr>
          <p:cNvPr id="54" name="Shape 49"/>
          <p:cNvSpPr/>
          <p:nvPr/>
        </p:nvSpPr>
        <p:spPr>
          <a:xfrm>
            <a:off x="7924800" y="4718447"/>
            <a:ext cx="27432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7924800" y="5118497"/>
            <a:ext cx="2743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8077200" y="4804172"/>
            <a:ext cx="25206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dir1</a:t>
            </a:r>
            <a:endParaRPr lang="en-US" sz="1575" dirty="0"/>
          </a:p>
        </p:txBody>
      </p:sp>
      <p:sp>
        <p:nvSpPr>
          <p:cNvPr id="57" name="Text 52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58" name="Text 53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Buscar archivos y texto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365760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13359"/>
            <a:ext cx="35006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5181600" y="2037159"/>
            <a:ext cx="548640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5314950" y="2113359"/>
            <a:ext cx="53842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Qué encuentra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1524000" y="2756297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57350" y="2475309"/>
            <a:ext cx="35006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/home -name '*.pdf'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5181600" y="2756297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5314950" y="2475309"/>
            <a:ext cx="538429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por nombre o patrón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524000" y="2765822"/>
            <a:ext cx="3657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3127772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57350" y="2842022"/>
            <a:ext cx="35006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/ruta -type f | d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5181600" y="2765822"/>
            <a:ext cx="54864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8" name="Shape 13"/>
          <p:cNvSpPr/>
          <p:nvPr/>
        </p:nvSpPr>
        <p:spPr>
          <a:xfrm>
            <a:off x="5181600" y="3127772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5314950" y="2842022"/>
            <a:ext cx="53842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archivos (f) o solo directorios (d)</a:t>
            </a:r>
            <a:endParaRPr lang="en-US" sz="1425" dirty="0"/>
          </a:p>
        </p:txBody>
      </p:sp>
      <p:sp>
        <p:nvSpPr>
          <p:cNvPr id="20" name="Shape 15"/>
          <p:cNvSpPr/>
          <p:nvPr/>
        </p:nvSpPr>
        <p:spPr>
          <a:xfrm>
            <a:off x="1524000" y="3499247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57350" y="3213497"/>
            <a:ext cx="35006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-user user1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5181600" y="3499247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5314950" y="3213497"/>
            <a:ext cx="53842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que pertenecen a un usuario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1524000" y="3508772"/>
            <a:ext cx="3657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1524000" y="3870722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1657350" y="3584972"/>
            <a:ext cx="35006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/usr/bin -type f -mtime -10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5181600" y="3508772"/>
            <a:ext cx="54864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Shape 23"/>
          <p:cNvSpPr/>
          <p:nvPr/>
        </p:nvSpPr>
        <p:spPr>
          <a:xfrm>
            <a:off x="5181600" y="3870722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5314950" y="3584972"/>
            <a:ext cx="53842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modificados en los últimos 10 días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1524000" y="4242197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1657350" y="3956447"/>
            <a:ext cx="35006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 '*.ps'</a:t>
            </a:r>
            <a:endParaRPr lang="en-US" sz="1425" dirty="0"/>
          </a:p>
        </p:txBody>
      </p:sp>
      <p:sp>
        <p:nvSpPr>
          <p:cNvPr id="32" name="Shape 27"/>
          <p:cNvSpPr/>
          <p:nvPr/>
        </p:nvSpPr>
        <p:spPr>
          <a:xfrm>
            <a:off x="5181600" y="4242197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5314950" y="3956447"/>
            <a:ext cx="53842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rápida en el índice creado con updatedb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1524000" y="4251722"/>
            <a:ext cx="3657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1524000" y="4613672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57350" y="4327922"/>
            <a:ext cx="35006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-rn 'ERROR' /var/log/</a:t>
            </a:r>
            <a:endParaRPr lang="en-US" sz="1425" dirty="0"/>
          </a:p>
        </p:txBody>
      </p:sp>
      <p:sp>
        <p:nvSpPr>
          <p:cNvPr id="37" name="Shape 32"/>
          <p:cNvSpPr/>
          <p:nvPr/>
        </p:nvSpPr>
        <p:spPr>
          <a:xfrm>
            <a:off x="5181600" y="4251722"/>
            <a:ext cx="54864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5181600" y="4613672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5314950" y="4327922"/>
            <a:ext cx="53842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que contienen un patrón, con número de línea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1524000" y="4985147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1657350" y="4699397"/>
            <a:ext cx="35006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python3 · whereis halt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5181600" y="4985147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5314950" y="4699397"/>
            <a:ext cx="53842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del ejecutable · binario, fuentes y manual</a:t>
            </a:r>
            <a:endParaRPr lang="en-US" sz="1425" dirty="0"/>
          </a:p>
        </p:txBody>
      </p:sp>
      <p:sp>
        <p:nvSpPr>
          <p:cNvPr id="44" name="Text 39"/>
          <p:cNvSpPr/>
          <p:nvPr/>
        </p:nvSpPr>
        <p:spPr>
          <a:xfrm>
            <a:off x="1524000" y="5189934"/>
            <a:ext cx="100584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Combinación con tubería: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/var/log -type f | grep '.log' | wc -l </a:t>
            </a:r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los archivos de registro.</a:t>
            </a:r>
            <a:endParaRPr lang="en-US" sz="1425" dirty="0"/>
          </a:p>
        </p:txBody>
      </p:sp>
      <p:sp>
        <p:nvSpPr>
          <p:cNvPr id="45" name="Text 40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746772"/>
            <a:ext cx="3424982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861072"/>
            <a:ext cx="29181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USUARIOS Y GRUPOS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499247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Cuentas, grupos y propiedad de los archivos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sudo y su: privilegios de root</a:t>
            </a:r>
            <a:endParaRPr lang="en-US" sz="4350" dirty="0"/>
          </a:p>
        </p:txBody>
      </p:sp>
      <p:sp>
        <p:nvSpPr>
          <p:cNvPr id="6" name="Text 1"/>
          <p:cNvSpPr/>
          <p:nvPr/>
        </p:nvSpPr>
        <p:spPr>
          <a:xfrm>
            <a:off x="1524000" y="1846659"/>
            <a:ext cx="10058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usuarios, cambiar dueños o permisos del sistema exige privilegios de root.</a:t>
            </a:r>
            <a:endParaRPr lang="en-US" sz="1575" dirty="0"/>
          </a:p>
        </p:txBody>
      </p:sp>
      <p:sp>
        <p:nvSpPr>
          <p:cNvPr id="7" name="Shape 2"/>
          <p:cNvSpPr/>
          <p:nvPr/>
        </p:nvSpPr>
        <p:spPr>
          <a:xfrm>
            <a:off x="1524000" y="2265759"/>
            <a:ext cx="25602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8" name="Text 3"/>
          <p:cNvSpPr/>
          <p:nvPr/>
        </p:nvSpPr>
        <p:spPr>
          <a:xfrm>
            <a:off x="1657350" y="2341959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9" name="Shape 4"/>
          <p:cNvSpPr/>
          <p:nvPr/>
        </p:nvSpPr>
        <p:spPr>
          <a:xfrm>
            <a:off x="4084290" y="2265759"/>
            <a:ext cx="4206329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0" name="Text 5"/>
          <p:cNvSpPr/>
          <p:nvPr/>
        </p:nvSpPr>
        <p:spPr>
          <a:xfrm>
            <a:off x="4217640" y="2341959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1" name="Shape 6"/>
          <p:cNvSpPr/>
          <p:nvPr/>
        </p:nvSpPr>
        <p:spPr>
          <a:xfrm>
            <a:off x="8290620" y="2265759"/>
            <a:ext cx="237738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2" name="Text 7"/>
          <p:cNvSpPr/>
          <p:nvPr/>
        </p:nvSpPr>
        <p:spPr>
          <a:xfrm>
            <a:off x="8423970" y="2341959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1524000" y="31944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4" name="Text 9"/>
          <p:cNvSpPr/>
          <p:nvPr/>
        </p:nvSpPr>
        <p:spPr>
          <a:xfrm>
            <a:off x="1657350" y="2703909"/>
            <a:ext cx="237039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comando</a:t>
            </a:r>
            <a:endParaRPr lang="en-US" sz="1425" dirty="0"/>
          </a:p>
        </p:txBody>
      </p:sp>
      <p:sp>
        <p:nvSpPr>
          <p:cNvPr id="15" name="Shape 10"/>
          <p:cNvSpPr/>
          <p:nvPr/>
        </p:nvSpPr>
        <p:spPr>
          <a:xfrm>
            <a:off x="4084290" y="319444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4217640" y="2703909"/>
            <a:ext cx="406581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un comando como root con la contraseña propia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8290620" y="319444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Text 13"/>
          <p:cNvSpPr/>
          <p:nvPr/>
        </p:nvSpPr>
        <p:spPr>
          <a:xfrm>
            <a:off x="8423970" y="2703909"/>
            <a:ext cx="21868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ana</a:t>
            </a:r>
            <a:endParaRPr lang="en-US" sz="1425" dirty="0"/>
          </a:p>
        </p:txBody>
      </p:sp>
      <p:sp>
        <p:nvSpPr>
          <p:cNvPr id="19" name="Shape 14"/>
          <p:cNvSpPr/>
          <p:nvPr/>
        </p:nvSpPr>
        <p:spPr>
          <a:xfrm>
            <a:off x="1524000" y="320397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0" name="Shape 15"/>
          <p:cNvSpPr/>
          <p:nvPr/>
        </p:nvSpPr>
        <p:spPr>
          <a:xfrm>
            <a:off x="1524000" y="35659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57350" y="328017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usuario comando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4084290" y="3203972"/>
            <a:ext cx="420632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3" name="Shape 18"/>
          <p:cNvSpPr/>
          <p:nvPr/>
        </p:nvSpPr>
        <p:spPr>
          <a:xfrm>
            <a:off x="4084290" y="3565922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4" name="Text 19"/>
          <p:cNvSpPr/>
          <p:nvPr/>
        </p:nvSpPr>
        <p:spPr>
          <a:xfrm>
            <a:off x="4217640" y="3280172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un comando como otro usuario</a:t>
            </a:r>
            <a:endParaRPr lang="en-US" sz="1425" dirty="0"/>
          </a:p>
        </p:txBody>
      </p:sp>
      <p:sp>
        <p:nvSpPr>
          <p:cNvPr id="25" name="Shape 20"/>
          <p:cNvSpPr/>
          <p:nvPr/>
        </p:nvSpPr>
        <p:spPr>
          <a:xfrm>
            <a:off x="8290620" y="320397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6" name="Shape 21"/>
          <p:cNvSpPr/>
          <p:nvPr/>
        </p:nvSpPr>
        <p:spPr>
          <a:xfrm>
            <a:off x="8290620" y="356592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7" name="Text 22"/>
          <p:cNvSpPr/>
          <p:nvPr/>
        </p:nvSpPr>
        <p:spPr>
          <a:xfrm>
            <a:off x="8423970" y="328017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ana ls ~ana</a:t>
            </a:r>
            <a:endParaRPr lang="en-US" sz="1425" dirty="0"/>
          </a:p>
        </p:txBody>
      </p:sp>
      <p:sp>
        <p:nvSpPr>
          <p:cNvPr id="28" name="Shape 23"/>
          <p:cNvSpPr/>
          <p:nvPr/>
        </p:nvSpPr>
        <p:spPr>
          <a:xfrm>
            <a:off x="1524000" y="39373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1657350" y="3651647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-i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4084290" y="393739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4217640" y="3651647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una shell de root con su entorno</a:t>
            </a:r>
            <a:endParaRPr lang="en-US" sz="1425" dirty="0"/>
          </a:p>
        </p:txBody>
      </p:sp>
      <p:sp>
        <p:nvSpPr>
          <p:cNvPr id="32" name="Shape 27"/>
          <p:cNvSpPr/>
          <p:nvPr/>
        </p:nvSpPr>
        <p:spPr>
          <a:xfrm>
            <a:off x="8290620" y="39373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8423970" y="3651647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-i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1524000" y="394692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1524000" y="43088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57350" y="402312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-l</a:t>
            </a:r>
            <a:endParaRPr lang="en-US" sz="1425" dirty="0"/>
          </a:p>
        </p:txBody>
      </p:sp>
      <p:sp>
        <p:nvSpPr>
          <p:cNvPr id="37" name="Shape 32"/>
          <p:cNvSpPr/>
          <p:nvPr/>
        </p:nvSpPr>
        <p:spPr>
          <a:xfrm>
            <a:off x="4084290" y="3946922"/>
            <a:ext cx="420632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4084290" y="4308872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4217640" y="4023122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lo que el usuario tiene permitido ejecutar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8290620" y="394692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1" name="Shape 36"/>
          <p:cNvSpPr/>
          <p:nvPr/>
        </p:nvSpPr>
        <p:spPr>
          <a:xfrm>
            <a:off x="8290620" y="43088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2" name="Text 37"/>
          <p:cNvSpPr/>
          <p:nvPr/>
        </p:nvSpPr>
        <p:spPr>
          <a:xfrm>
            <a:off x="8423970" y="402312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-l</a:t>
            </a:r>
            <a:endParaRPr lang="en-US" sz="1425" dirty="0"/>
          </a:p>
        </p:txBody>
      </p:sp>
      <p:sp>
        <p:nvSpPr>
          <p:cNvPr id="43" name="Shape 38"/>
          <p:cNvSpPr/>
          <p:nvPr/>
        </p:nvSpPr>
        <p:spPr>
          <a:xfrm>
            <a:off x="1524000" y="48898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4" name="Text 39"/>
          <p:cNvSpPr/>
          <p:nvPr/>
        </p:nvSpPr>
        <p:spPr>
          <a:xfrm>
            <a:off x="1657350" y="4394597"/>
            <a:ext cx="23703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usuario</a:t>
            </a:r>
            <a:endParaRPr lang="en-US" sz="1425" dirty="0"/>
          </a:p>
        </p:txBody>
      </p:sp>
      <p:sp>
        <p:nvSpPr>
          <p:cNvPr id="45" name="Shape 40"/>
          <p:cNvSpPr/>
          <p:nvPr/>
        </p:nvSpPr>
        <p:spPr>
          <a:xfrm>
            <a:off x="4084290" y="488989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6" name="Text 41"/>
          <p:cNvSpPr/>
          <p:nvPr/>
        </p:nvSpPr>
        <p:spPr>
          <a:xfrm>
            <a:off x="4217640" y="4394597"/>
            <a:ext cx="40658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de usuario; pide la contraseña del destino</a:t>
            </a:r>
            <a:endParaRPr lang="en-US" sz="1425" dirty="0"/>
          </a:p>
        </p:txBody>
      </p:sp>
      <p:sp>
        <p:nvSpPr>
          <p:cNvPr id="47" name="Shape 42"/>
          <p:cNvSpPr/>
          <p:nvPr/>
        </p:nvSpPr>
        <p:spPr>
          <a:xfrm>
            <a:off x="8290620" y="488989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8" name="Text 43"/>
          <p:cNvSpPr/>
          <p:nvPr/>
        </p:nvSpPr>
        <p:spPr>
          <a:xfrm>
            <a:off x="8423970" y="4394597"/>
            <a:ext cx="2186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ana</a:t>
            </a:r>
            <a:endParaRPr lang="en-US" sz="1425" dirty="0"/>
          </a:p>
        </p:txBody>
      </p:sp>
      <p:sp>
        <p:nvSpPr>
          <p:cNvPr id="49" name="Shape 44"/>
          <p:cNvSpPr/>
          <p:nvPr/>
        </p:nvSpPr>
        <p:spPr>
          <a:xfrm>
            <a:off x="1524000" y="489942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0" name="Shape 45"/>
          <p:cNvSpPr/>
          <p:nvPr/>
        </p:nvSpPr>
        <p:spPr>
          <a:xfrm>
            <a:off x="1524000" y="52613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1" name="Text 46"/>
          <p:cNvSpPr/>
          <p:nvPr/>
        </p:nvSpPr>
        <p:spPr>
          <a:xfrm>
            <a:off x="1657350" y="497562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-</a:t>
            </a:r>
            <a:endParaRPr lang="en-US" sz="1425" dirty="0"/>
          </a:p>
        </p:txBody>
      </p:sp>
      <p:sp>
        <p:nvSpPr>
          <p:cNvPr id="52" name="Shape 47"/>
          <p:cNvSpPr/>
          <p:nvPr/>
        </p:nvSpPr>
        <p:spPr>
          <a:xfrm>
            <a:off x="4084290" y="4899422"/>
            <a:ext cx="420632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3" name="Shape 48"/>
          <p:cNvSpPr/>
          <p:nvPr/>
        </p:nvSpPr>
        <p:spPr>
          <a:xfrm>
            <a:off x="4084290" y="5261372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4" name="Text 49"/>
          <p:cNvSpPr/>
          <p:nvPr/>
        </p:nvSpPr>
        <p:spPr>
          <a:xfrm>
            <a:off x="4217640" y="4975622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a root cargando su entorno completo</a:t>
            </a:r>
            <a:endParaRPr lang="en-US" sz="1425" dirty="0"/>
          </a:p>
        </p:txBody>
      </p:sp>
      <p:sp>
        <p:nvSpPr>
          <p:cNvPr id="55" name="Shape 50"/>
          <p:cNvSpPr/>
          <p:nvPr/>
        </p:nvSpPr>
        <p:spPr>
          <a:xfrm>
            <a:off x="8290620" y="4899422"/>
            <a:ext cx="23773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6" name="Shape 51"/>
          <p:cNvSpPr/>
          <p:nvPr/>
        </p:nvSpPr>
        <p:spPr>
          <a:xfrm>
            <a:off x="8290620" y="52613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7" name="Text 52"/>
          <p:cNvSpPr/>
          <p:nvPr/>
        </p:nvSpPr>
        <p:spPr>
          <a:xfrm>
            <a:off x="8423970" y="4975622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-</a:t>
            </a:r>
            <a:endParaRPr lang="en-US" sz="1425" dirty="0"/>
          </a:p>
        </p:txBody>
      </p:sp>
      <p:sp>
        <p:nvSpPr>
          <p:cNvPr id="58" name="Shape 53"/>
          <p:cNvSpPr/>
          <p:nvPr/>
        </p:nvSpPr>
        <p:spPr>
          <a:xfrm>
            <a:off x="1524000" y="56328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9" name="Text 54"/>
          <p:cNvSpPr/>
          <p:nvPr/>
        </p:nvSpPr>
        <p:spPr>
          <a:xfrm>
            <a:off x="1657350" y="5347097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25" dirty="0"/>
          </a:p>
        </p:txBody>
      </p:sp>
      <p:sp>
        <p:nvSpPr>
          <p:cNvPr id="60" name="Shape 55"/>
          <p:cNvSpPr/>
          <p:nvPr/>
        </p:nvSpPr>
        <p:spPr>
          <a:xfrm>
            <a:off x="4084290" y="5632847"/>
            <a:ext cx="420632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1" name="Text 56"/>
          <p:cNvSpPr/>
          <p:nvPr/>
        </p:nvSpPr>
        <p:spPr>
          <a:xfrm>
            <a:off x="4217640" y="5347097"/>
            <a:ext cx="406581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la sesión abierta con su o sudo -i</a:t>
            </a:r>
            <a:endParaRPr lang="en-US" sz="1425" dirty="0"/>
          </a:p>
        </p:txBody>
      </p:sp>
      <p:sp>
        <p:nvSpPr>
          <p:cNvPr id="62" name="Shape 57"/>
          <p:cNvSpPr/>
          <p:nvPr/>
        </p:nvSpPr>
        <p:spPr>
          <a:xfrm>
            <a:off x="8290620" y="563284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3" name="Text 58"/>
          <p:cNvSpPr/>
          <p:nvPr/>
        </p:nvSpPr>
        <p:spPr>
          <a:xfrm>
            <a:off x="8423970" y="5347097"/>
            <a:ext cx="21868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425" dirty="0"/>
          </a:p>
        </p:txBody>
      </p:sp>
      <p:sp>
        <p:nvSpPr>
          <p:cNvPr id="64" name="Text 59"/>
          <p:cNvSpPr/>
          <p:nvPr/>
        </p:nvSpPr>
        <p:spPr>
          <a:xfrm>
            <a:off x="1524000" y="5780484"/>
            <a:ext cx="9418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 un comando puntual y lo registra;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 identidad de toda la sesión. Solo usan sudo los usuarios autorizados en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/etc/sudoers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65" name="Text 6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Administración de usuarios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4754761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13359"/>
            <a:ext cx="46307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6278761" y="2037159"/>
            <a:ext cx="4389239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6412111" y="2113359"/>
            <a:ext cx="42542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1524000" y="2756297"/>
            <a:ext cx="47547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57350" y="2475309"/>
            <a:ext cx="463070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 user1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6278761" y="2756297"/>
            <a:ext cx="4389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6412111" y="2475309"/>
            <a:ext cx="425421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nuevo usuario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524000" y="2765822"/>
            <a:ext cx="4754761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3337322"/>
            <a:ext cx="47547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57350" y="2842022"/>
            <a:ext cx="46307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 -c "Nombre" -g admin -d /home/user1 -s /bin/bash user1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6278761" y="2765822"/>
            <a:ext cx="4389239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8" name="Shape 13"/>
          <p:cNvSpPr/>
          <p:nvPr/>
        </p:nvSpPr>
        <p:spPr>
          <a:xfrm>
            <a:off x="6278761" y="3337322"/>
            <a:ext cx="4389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6412111" y="2842022"/>
            <a:ext cx="42542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usuario con comentario, grupo, home y shell</a:t>
            </a:r>
            <a:endParaRPr lang="en-US" sz="1425" dirty="0"/>
          </a:p>
        </p:txBody>
      </p:sp>
      <p:sp>
        <p:nvSpPr>
          <p:cNvPr id="20" name="Shape 15"/>
          <p:cNvSpPr/>
          <p:nvPr/>
        </p:nvSpPr>
        <p:spPr>
          <a:xfrm>
            <a:off x="1524000" y="3918347"/>
            <a:ext cx="47547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57350" y="3423047"/>
            <a:ext cx="46307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usermod -c "User FTP" -g system -s /bin/nologin user1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6278761" y="3918347"/>
            <a:ext cx="4389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6412111" y="3423047"/>
            <a:ext cx="42542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los atributos de una cuenta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1524000" y="3927872"/>
            <a:ext cx="4754761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1524000" y="4289822"/>
            <a:ext cx="47547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1657350" y="4004072"/>
            <a:ext cx="46307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userdel -r user1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6278761" y="3927872"/>
            <a:ext cx="43892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Shape 23"/>
          <p:cNvSpPr/>
          <p:nvPr/>
        </p:nvSpPr>
        <p:spPr>
          <a:xfrm>
            <a:off x="6278761" y="4289822"/>
            <a:ext cx="4389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6412111" y="4004072"/>
            <a:ext cx="42542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el usuario y su directorio home (-r)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1524000" y="4661297"/>
            <a:ext cx="47547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1657350" y="4375547"/>
            <a:ext cx="46307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passwd · passwd user1</a:t>
            </a:r>
            <a:endParaRPr lang="en-US" sz="1425" dirty="0"/>
          </a:p>
        </p:txBody>
      </p:sp>
      <p:sp>
        <p:nvSpPr>
          <p:cNvPr id="32" name="Shape 27"/>
          <p:cNvSpPr/>
          <p:nvPr/>
        </p:nvSpPr>
        <p:spPr>
          <a:xfrm>
            <a:off x="6278761" y="4661297"/>
            <a:ext cx="4389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6412111" y="4375547"/>
            <a:ext cx="42542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 contraseña propia · la de otro (solo root)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1524000" y="4670822"/>
            <a:ext cx="4754761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1524000" y="5032772"/>
            <a:ext cx="47547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57350" y="4747022"/>
            <a:ext cx="46307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chage -E 2026-12-31 user1</a:t>
            </a:r>
            <a:endParaRPr lang="en-US" sz="1425" dirty="0"/>
          </a:p>
        </p:txBody>
      </p:sp>
      <p:sp>
        <p:nvSpPr>
          <p:cNvPr id="37" name="Shape 32"/>
          <p:cNvSpPr/>
          <p:nvPr/>
        </p:nvSpPr>
        <p:spPr>
          <a:xfrm>
            <a:off x="6278761" y="4670822"/>
            <a:ext cx="43892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6278761" y="5032772"/>
            <a:ext cx="4389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6412111" y="4747022"/>
            <a:ext cx="42542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 la fecha de caducidad de la cuenta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1524000" y="5404247"/>
            <a:ext cx="47547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1657350" y="5118497"/>
            <a:ext cx="46307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pwck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6278761" y="5404247"/>
            <a:ext cx="4389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6412111" y="5118497"/>
            <a:ext cx="42542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el formato de /etc/passwd y los usuarios</a:t>
            </a:r>
            <a:endParaRPr lang="en-US" sz="1425" dirty="0"/>
          </a:p>
        </p:txBody>
      </p:sp>
      <p:sp>
        <p:nvSpPr>
          <p:cNvPr id="44" name="Text 39"/>
          <p:cNvSpPr/>
          <p:nvPr/>
        </p:nvSpPr>
        <p:spPr>
          <a:xfrm>
            <a:off x="1524000" y="6165205"/>
            <a:ext cx="69883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Wiki de GUTL, «Más de 400 comandos para GNU/Linux», sección Usuarios y grupos.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Administración de grupos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365760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122884"/>
            <a:ext cx="34625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575" dirty="0"/>
          </a:p>
        </p:txBody>
      </p:sp>
      <p:sp>
        <p:nvSpPr>
          <p:cNvPr id="8" name="Shape 3"/>
          <p:cNvSpPr/>
          <p:nvPr/>
        </p:nvSpPr>
        <p:spPr>
          <a:xfrm>
            <a:off x="5181600" y="2037159"/>
            <a:ext cx="548640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5334000" y="2122884"/>
            <a:ext cx="534619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575" dirty="0"/>
          </a:p>
        </p:txBody>
      </p:sp>
      <p:sp>
        <p:nvSpPr>
          <p:cNvPr id="10" name="Shape 5"/>
          <p:cNvSpPr/>
          <p:nvPr/>
        </p:nvSpPr>
        <p:spPr>
          <a:xfrm>
            <a:off x="1524000" y="2842022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76400" y="2532459"/>
            <a:ext cx="346252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groupadd devs</a:t>
            </a:r>
            <a:endParaRPr lang="en-US" sz="1575" dirty="0"/>
          </a:p>
        </p:txBody>
      </p:sp>
      <p:sp>
        <p:nvSpPr>
          <p:cNvPr id="12" name="Shape 7"/>
          <p:cNvSpPr/>
          <p:nvPr/>
        </p:nvSpPr>
        <p:spPr>
          <a:xfrm>
            <a:off x="5181600" y="2842022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5334000" y="2532459"/>
            <a:ext cx="534619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grupo</a:t>
            </a:r>
            <a:endParaRPr lang="en-US" sz="1575" dirty="0"/>
          </a:p>
        </p:txBody>
      </p:sp>
      <p:sp>
        <p:nvSpPr>
          <p:cNvPr id="14" name="Shape 9"/>
          <p:cNvSpPr/>
          <p:nvPr/>
        </p:nvSpPr>
        <p:spPr>
          <a:xfrm>
            <a:off x="1524000" y="2851547"/>
            <a:ext cx="36576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3251597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76400" y="2937272"/>
            <a:ext cx="3462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groupdel devs</a:t>
            </a:r>
            <a:endParaRPr lang="en-US" sz="1575" dirty="0"/>
          </a:p>
        </p:txBody>
      </p:sp>
      <p:sp>
        <p:nvSpPr>
          <p:cNvPr id="17" name="Shape 12"/>
          <p:cNvSpPr/>
          <p:nvPr/>
        </p:nvSpPr>
        <p:spPr>
          <a:xfrm>
            <a:off x="5181600" y="2851547"/>
            <a:ext cx="54864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8" name="Shape 13"/>
          <p:cNvSpPr/>
          <p:nvPr/>
        </p:nvSpPr>
        <p:spPr>
          <a:xfrm>
            <a:off x="5181600" y="3251597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5334000" y="2937272"/>
            <a:ext cx="53461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un grupo</a:t>
            </a:r>
            <a:endParaRPr lang="en-US" sz="1575" dirty="0"/>
          </a:p>
        </p:txBody>
      </p:sp>
      <p:sp>
        <p:nvSpPr>
          <p:cNvPr id="20" name="Shape 15"/>
          <p:cNvSpPr/>
          <p:nvPr/>
        </p:nvSpPr>
        <p:spPr>
          <a:xfrm>
            <a:off x="1524000" y="3661172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76400" y="3346847"/>
            <a:ext cx="3462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groupmod -n nuevo viejo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5181600" y="3661172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5334000" y="3346847"/>
            <a:ext cx="53461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Renombra un grupo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1524000" y="3670697"/>
            <a:ext cx="36576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1524000" y="4070747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1676400" y="3756422"/>
            <a:ext cx="3462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usermod -g devs carlos</a:t>
            </a:r>
            <a:endParaRPr lang="en-US" sz="1575" dirty="0"/>
          </a:p>
        </p:txBody>
      </p:sp>
      <p:sp>
        <p:nvSpPr>
          <p:cNvPr id="27" name="Shape 22"/>
          <p:cNvSpPr/>
          <p:nvPr/>
        </p:nvSpPr>
        <p:spPr>
          <a:xfrm>
            <a:off x="5181600" y="3670697"/>
            <a:ext cx="54864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Shape 23"/>
          <p:cNvSpPr/>
          <p:nvPr/>
        </p:nvSpPr>
        <p:spPr>
          <a:xfrm>
            <a:off x="5181600" y="4070747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5334000" y="3756422"/>
            <a:ext cx="53461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o cambia el grupo primario de una cuenta</a:t>
            </a:r>
            <a:endParaRPr lang="en-US" sz="1575" dirty="0"/>
          </a:p>
        </p:txBody>
      </p:sp>
      <p:sp>
        <p:nvSpPr>
          <p:cNvPr id="30" name="Shape 25"/>
          <p:cNvSpPr/>
          <p:nvPr/>
        </p:nvSpPr>
        <p:spPr>
          <a:xfrm>
            <a:off x="1524000" y="4708922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1676400" y="4165997"/>
            <a:ext cx="34625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newgrp devs</a:t>
            </a:r>
            <a:endParaRPr lang="en-US" sz="1575" dirty="0"/>
          </a:p>
        </p:txBody>
      </p:sp>
      <p:sp>
        <p:nvSpPr>
          <p:cNvPr id="32" name="Shape 27"/>
          <p:cNvSpPr/>
          <p:nvPr/>
        </p:nvSpPr>
        <p:spPr>
          <a:xfrm>
            <a:off x="5181600" y="4708922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5334000" y="4165997"/>
            <a:ext cx="53461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grupo predeterminado de los archivos que se creen en la sesión</a:t>
            </a:r>
            <a:endParaRPr lang="en-US" sz="1575" dirty="0"/>
          </a:p>
        </p:txBody>
      </p:sp>
      <p:sp>
        <p:nvSpPr>
          <p:cNvPr id="34" name="Shape 29"/>
          <p:cNvSpPr/>
          <p:nvPr/>
        </p:nvSpPr>
        <p:spPr>
          <a:xfrm>
            <a:off x="1524000" y="4718447"/>
            <a:ext cx="36576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1524000" y="5118497"/>
            <a:ext cx="3657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76400" y="4804172"/>
            <a:ext cx="34625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grpck</a:t>
            </a:r>
            <a:endParaRPr lang="en-US" sz="1575" dirty="0"/>
          </a:p>
        </p:txBody>
      </p:sp>
      <p:sp>
        <p:nvSpPr>
          <p:cNvPr id="37" name="Shape 32"/>
          <p:cNvSpPr/>
          <p:nvPr/>
        </p:nvSpPr>
        <p:spPr>
          <a:xfrm>
            <a:off x="5181600" y="4718447"/>
            <a:ext cx="548640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5181600" y="5118497"/>
            <a:ext cx="54864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5334000" y="4804172"/>
            <a:ext cx="53461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el formato de /etc/group y los grupos</a:t>
            </a:r>
            <a:endParaRPr lang="en-US" sz="1575" dirty="0"/>
          </a:p>
        </p:txBody>
      </p:sp>
      <p:sp>
        <p:nvSpPr>
          <p:cNvPr id="40" name="Text 35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Propiedad de archivos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256029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122884"/>
            <a:ext cx="23322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575" dirty="0"/>
          </a:p>
        </p:txBody>
      </p:sp>
      <p:sp>
        <p:nvSpPr>
          <p:cNvPr id="8" name="Shape 3"/>
          <p:cNvSpPr/>
          <p:nvPr/>
        </p:nvSpPr>
        <p:spPr>
          <a:xfrm>
            <a:off x="4084290" y="2037159"/>
            <a:ext cx="3657749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4236690" y="2122884"/>
            <a:ext cx="346268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575" dirty="0"/>
          </a:p>
        </p:txBody>
      </p:sp>
      <p:sp>
        <p:nvSpPr>
          <p:cNvPr id="10" name="Shape 5"/>
          <p:cNvSpPr/>
          <p:nvPr/>
        </p:nvSpPr>
        <p:spPr>
          <a:xfrm>
            <a:off x="7742039" y="2037159"/>
            <a:ext cx="2925961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7894439" y="2122884"/>
            <a:ext cx="27089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1575" dirty="0"/>
          </a:p>
        </p:txBody>
      </p:sp>
      <p:sp>
        <p:nvSpPr>
          <p:cNvPr id="12" name="Shape 7"/>
          <p:cNvSpPr/>
          <p:nvPr/>
        </p:nvSpPr>
        <p:spPr>
          <a:xfrm>
            <a:off x="1524000" y="28420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76400" y="2532459"/>
            <a:ext cx="233229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usuario f</a:t>
            </a:r>
            <a:endParaRPr lang="en-US" sz="1575" dirty="0"/>
          </a:p>
        </p:txBody>
      </p:sp>
      <p:sp>
        <p:nvSpPr>
          <p:cNvPr id="14" name="Shape 9"/>
          <p:cNvSpPr/>
          <p:nvPr/>
        </p:nvSpPr>
        <p:spPr>
          <a:xfrm>
            <a:off x="4084290" y="2842022"/>
            <a:ext cx="365774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4236690" y="2532459"/>
            <a:ext cx="346268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solo el propietario</a:t>
            </a:r>
            <a:endParaRPr lang="en-US" sz="1575" dirty="0"/>
          </a:p>
        </p:txBody>
      </p:sp>
      <p:sp>
        <p:nvSpPr>
          <p:cNvPr id="16" name="Shape 11"/>
          <p:cNvSpPr/>
          <p:nvPr/>
        </p:nvSpPr>
        <p:spPr>
          <a:xfrm>
            <a:off x="7742039" y="2842022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7894439" y="2532459"/>
            <a:ext cx="27089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juan nota.txt</a:t>
            </a:r>
            <a:endParaRPr lang="en-US" sz="1575" dirty="0"/>
          </a:p>
        </p:txBody>
      </p:sp>
      <p:sp>
        <p:nvSpPr>
          <p:cNvPr id="18" name="Shape 13"/>
          <p:cNvSpPr/>
          <p:nvPr/>
        </p:nvSpPr>
        <p:spPr>
          <a:xfrm>
            <a:off x="1524000" y="2851547"/>
            <a:ext cx="2560290" cy="6381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4801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76400" y="2937272"/>
            <a:ext cx="23322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u:grupo f</a:t>
            </a:r>
            <a:endParaRPr lang="en-US" sz="1575" dirty="0"/>
          </a:p>
        </p:txBody>
      </p:sp>
      <p:sp>
        <p:nvSpPr>
          <p:cNvPr id="21" name="Shape 16"/>
          <p:cNvSpPr/>
          <p:nvPr/>
        </p:nvSpPr>
        <p:spPr>
          <a:xfrm>
            <a:off x="4084290" y="2851547"/>
            <a:ext cx="3657749" cy="6381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4084290" y="3480197"/>
            <a:ext cx="365774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4236690" y="2937272"/>
            <a:ext cx="34626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propietario y grupo a la vez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7742039" y="2851547"/>
            <a:ext cx="2925961" cy="6381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742039" y="3480197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7894439" y="2937272"/>
            <a:ext cx="27089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maria:admin script.py</a:t>
            </a:r>
            <a:endParaRPr lang="en-US" sz="1575" dirty="0"/>
          </a:p>
        </p:txBody>
      </p:sp>
      <p:sp>
        <p:nvSpPr>
          <p:cNvPr id="27" name="Shape 22"/>
          <p:cNvSpPr/>
          <p:nvPr/>
        </p:nvSpPr>
        <p:spPr>
          <a:xfrm>
            <a:off x="1524000" y="41183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76400" y="3575447"/>
            <a:ext cx="23322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:grupo f</a:t>
            </a:r>
            <a:endParaRPr lang="en-US" sz="1575" dirty="0"/>
          </a:p>
        </p:txBody>
      </p:sp>
      <p:sp>
        <p:nvSpPr>
          <p:cNvPr id="29" name="Shape 24"/>
          <p:cNvSpPr/>
          <p:nvPr/>
        </p:nvSpPr>
        <p:spPr>
          <a:xfrm>
            <a:off x="4084290" y="4118372"/>
            <a:ext cx="365774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4236690" y="3575447"/>
            <a:ext cx="34626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solo el grupo y conserva el usuario</a:t>
            </a:r>
            <a:endParaRPr lang="en-US" sz="1575" dirty="0"/>
          </a:p>
        </p:txBody>
      </p:sp>
      <p:sp>
        <p:nvSpPr>
          <p:cNvPr id="31" name="Shape 26"/>
          <p:cNvSpPr/>
          <p:nvPr/>
        </p:nvSpPr>
        <p:spPr>
          <a:xfrm>
            <a:off x="7742039" y="4118372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7894439" y="3575447"/>
            <a:ext cx="27089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:devs proyecto.tar</a:t>
            </a:r>
            <a:endParaRPr lang="en-US" sz="1575" dirty="0"/>
          </a:p>
        </p:txBody>
      </p:sp>
      <p:sp>
        <p:nvSpPr>
          <p:cNvPr id="33" name="Shape 28"/>
          <p:cNvSpPr/>
          <p:nvPr/>
        </p:nvSpPr>
        <p:spPr>
          <a:xfrm>
            <a:off x="1524000" y="4127897"/>
            <a:ext cx="2560290" cy="6381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7565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76400" y="4213622"/>
            <a:ext cx="23322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-R u dir</a:t>
            </a:r>
            <a:endParaRPr lang="en-US" sz="1575" dirty="0"/>
          </a:p>
        </p:txBody>
      </p:sp>
      <p:sp>
        <p:nvSpPr>
          <p:cNvPr id="36" name="Shape 31"/>
          <p:cNvSpPr/>
          <p:nvPr/>
        </p:nvSpPr>
        <p:spPr>
          <a:xfrm>
            <a:off x="4084290" y="4127897"/>
            <a:ext cx="3657749" cy="6381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4084290" y="4756547"/>
            <a:ext cx="365774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4236690" y="4213622"/>
            <a:ext cx="34626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el cambio a todo el contenido</a:t>
            </a:r>
            <a:endParaRPr lang="en-US" sz="1575" dirty="0"/>
          </a:p>
        </p:txBody>
      </p:sp>
      <p:sp>
        <p:nvSpPr>
          <p:cNvPr id="39" name="Shape 34"/>
          <p:cNvSpPr/>
          <p:nvPr/>
        </p:nvSpPr>
        <p:spPr>
          <a:xfrm>
            <a:off x="7742039" y="4127897"/>
            <a:ext cx="2925961" cy="6381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742039" y="4756547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7894439" y="4213622"/>
            <a:ext cx="27089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-R www-data /var/www</a:t>
            </a:r>
            <a:endParaRPr lang="en-US" sz="1575" dirty="0"/>
          </a:p>
        </p:txBody>
      </p:sp>
      <p:sp>
        <p:nvSpPr>
          <p:cNvPr id="42" name="Shape 37"/>
          <p:cNvSpPr/>
          <p:nvPr/>
        </p:nvSpPr>
        <p:spPr>
          <a:xfrm>
            <a:off x="1524000" y="53947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76400" y="4851797"/>
            <a:ext cx="23322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chgrp grupo f</a:t>
            </a:r>
            <a:endParaRPr lang="en-US" sz="1575" dirty="0"/>
          </a:p>
        </p:txBody>
      </p:sp>
      <p:sp>
        <p:nvSpPr>
          <p:cNvPr id="44" name="Shape 39"/>
          <p:cNvSpPr/>
          <p:nvPr/>
        </p:nvSpPr>
        <p:spPr>
          <a:xfrm>
            <a:off x="4084290" y="5394722"/>
            <a:ext cx="365774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4236690" y="4851797"/>
            <a:ext cx="34626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 dedicado a cambiar el grupo</a:t>
            </a:r>
            <a:endParaRPr lang="en-US" sz="1575" dirty="0"/>
          </a:p>
        </p:txBody>
      </p:sp>
      <p:sp>
        <p:nvSpPr>
          <p:cNvPr id="46" name="Shape 41"/>
          <p:cNvSpPr/>
          <p:nvPr/>
        </p:nvSpPr>
        <p:spPr>
          <a:xfrm>
            <a:off x="7742039" y="5394722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7894439" y="4851797"/>
            <a:ext cx="27089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chgrp estudiantes tarea.doc</a:t>
            </a:r>
            <a:endParaRPr lang="en-US" sz="1575" dirty="0"/>
          </a:p>
        </p:txBody>
      </p:sp>
      <p:sp>
        <p:nvSpPr>
          <p:cNvPr id="48" name="Text 43"/>
          <p:cNvSpPr/>
          <p:nvPr/>
        </p:nvSpPr>
        <p:spPr>
          <a:xfrm>
            <a:off x="1524000" y="6165205"/>
            <a:ext cx="435192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Linux, sección 4.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9418320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Propiedad: usuario y grupo propietario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644825"/>
            <a:ext cx="289560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1762125" y="2882950"/>
            <a:ext cx="266128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Dos dueños</a:t>
            </a:r>
            <a:endParaRPr lang="en-US" sz="2025" dirty="0"/>
          </a:p>
        </p:txBody>
      </p:sp>
      <p:sp>
        <p:nvSpPr>
          <p:cNvPr id="8" name="Text 3"/>
          <p:cNvSpPr/>
          <p:nvPr/>
        </p:nvSpPr>
        <p:spPr>
          <a:xfrm>
            <a:off x="1762125" y="3344317"/>
            <a:ext cx="2410271" cy="9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archivo y directorio tiene un usuario propietario y un grupo propietario, visibles en</a:t>
            </a:r>
            <a:endParaRPr lang="en-US" sz="1425" dirty="0"/>
          </a:p>
        </p:txBody>
      </p:sp>
      <p:sp>
        <p:nvSpPr>
          <p:cNvPr id="9" name="Text 4"/>
          <p:cNvSpPr/>
          <p:nvPr/>
        </p:nvSpPr>
        <p:spPr>
          <a:xfrm>
            <a:off x="2013793" y="4076998"/>
            <a:ext cx="573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endParaRPr lang="en-US" sz="1425" dirty="0"/>
          </a:p>
        </p:txBody>
      </p:sp>
      <p:sp>
        <p:nvSpPr>
          <p:cNvPr id="10" name="Text 5"/>
          <p:cNvSpPr/>
          <p:nvPr/>
        </p:nvSpPr>
        <p:spPr>
          <a:xfrm>
            <a:off x="2511326" y="4076998"/>
            <a:ext cx="1265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11" name="Shape 6"/>
          <p:cNvSpPr/>
          <p:nvPr/>
        </p:nvSpPr>
        <p:spPr>
          <a:xfrm>
            <a:off x="4648200" y="2644825"/>
            <a:ext cx="289560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886325" y="2882950"/>
            <a:ext cx="266128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Privilegios</a:t>
            </a:r>
            <a:endParaRPr lang="en-US" sz="2025" dirty="0"/>
          </a:p>
        </p:txBody>
      </p:sp>
      <p:sp>
        <p:nvSpPr>
          <p:cNvPr id="13" name="Text 8"/>
          <p:cNvSpPr/>
          <p:nvPr/>
        </p:nvSpPr>
        <p:spPr>
          <a:xfrm>
            <a:off x="4886325" y="3344317"/>
            <a:ext cx="2199233" cy="726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seguridad, cambiar el dueño de un archivo suele requerir root o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6073378" y="3832771"/>
            <a:ext cx="4743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endParaRPr lang="en-US" sz="1425" dirty="0"/>
          </a:p>
        </p:txBody>
      </p:sp>
      <p:sp>
        <p:nvSpPr>
          <p:cNvPr id="15" name="Text 10"/>
          <p:cNvSpPr/>
          <p:nvPr/>
        </p:nvSpPr>
        <p:spPr>
          <a:xfrm>
            <a:off x="6471493" y="3832771"/>
            <a:ext cx="1265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7772400" y="2644825"/>
            <a:ext cx="289560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010525" y="2882950"/>
            <a:ext cx="266128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chown o chgrp</a:t>
            </a:r>
            <a:endParaRPr lang="en-US" sz="2025" dirty="0"/>
          </a:p>
        </p:txBody>
      </p:sp>
      <p:sp>
        <p:nvSpPr>
          <p:cNvPr id="18" name="Text 13"/>
          <p:cNvSpPr/>
          <p:nvPr/>
        </p:nvSpPr>
        <p:spPr>
          <a:xfrm>
            <a:off x="8010525" y="3344317"/>
            <a:ext cx="573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8010525" y="3344317"/>
            <a:ext cx="2414736" cy="49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usuario, grupo o ambos;</a:t>
            </a:r>
            <a:endParaRPr lang="en-US" sz="1425" dirty="0"/>
          </a:p>
        </p:txBody>
      </p:sp>
      <p:sp>
        <p:nvSpPr>
          <p:cNvPr id="20" name="Text 15"/>
          <p:cNvSpPr/>
          <p:nvPr/>
        </p:nvSpPr>
        <p:spPr>
          <a:xfrm>
            <a:off x="8805267" y="3598069"/>
            <a:ext cx="573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chgrp</a:t>
            </a:r>
            <a:endParaRPr lang="en-US" sz="1425" dirty="0"/>
          </a:p>
        </p:txBody>
      </p:sp>
      <p:sp>
        <p:nvSpPr>
          <p:cNvPr id="21" name="Text 16"/>
          <p:cNvSpPr/>
          <p:nvPr/>
        </p:nvSpPr>
        <p:spPr>
          <a:xfrm>
            <a:off x="8010525" y="3598069"/>
            <a:ext cx="2178993" cy="736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comando dedicado solo al grupo.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1524000" y="4864150"/>
            <a:ext cx="9144000" cy="1219200"/>
          </a:xfrm>
          <a:prstGeom prst="roundRect">
            <a:avLst>
              <a:gd name="adj" fmla="val 9375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800225" y="5064175"/>
            <a:ext cx="38308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usuario1:grupo1 archivo1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5587603" y="5064175"/>
            <a:ext cx="52845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separador «:» actualiza ambos atributos a la vez</a:t>
            </a:r>
            <a:endParaRPr lang="en-US" sz="1425" dirty="0"/>
          </a:p>
        </p:txBody>
      </p:sp>
      <p:sp>
        <p:nvSpPr>
          <p:cNvPr id="25" name="Text 20"/>
          <p:cNvSpPr/>
          <p:nvPr/>
        </p:nvSpPr>
        <p:spPr>
          <a:xfrm>
            <a:off x="1800225" y="5368975"/>
            <a:ext cx="38308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:grupo1 archivo1</a:t>
            </a:r>
            <a:endParaRPr lang="en-US" sz="1425" dirty="0"/>
          </a:p>
        </p:txBody>
      </p:sp>
      <p:sp>
        <p:nvSpPr>
          <p:cNvPr id="26" name="Text 21"/>
          <p:cNvSpPr/>
          <p:nvPr/>
        </p:nvSpPr>
        <p:spPr>
          <a:xfrm>
            <a:off x="5587603" y="5368975"/>
            <a:ext cx="52845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usuario antes de «:», solo cambia el grupo</a:t>
            </a:r>
            <a:endParaRPr lang="en-US" sz="1425" dirty="0"/>
          </a:p>
        </p:txBody>
      </p:sp>
      <p:sp>
        <p:nvSpPr>
          <p:cNvPr id="27" name="Text 22"/>
          <p:cNvSpPr/>
          <p:nvPr/>
        </p:nvSpPr>
        <p:spPr>
          <a:xfrm>
            <a:off x="1800225" y="5673775"/>
            <a:ext cx="383083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chgrp grupo1 archivo1</a:t>
            </a:r>
            <a:endParaRPr lang="en-US" sz="1425" dirty="0"/>
          </a:p>
        </p:txBody>
      </p:sp>
      <p:sp>
        <p:nvSpPr>
          <p:cNvPr id="28" name="Text 23"/>
          <p:cNvSpPr/>
          <p:nvPr/>
        </p:nvSpPr>
        <p:spPr>
          <a:xfrm>
            <a:off x="5587603" y="5673775"/>
            <a:ext cx="52845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equivalente con el comando dedicado</a:t>
            </a:r>
            <a:endParaRPr lang="en-US" sz="1425" dirty="0"/>
          </a:p>
        </p:txBody>
      </p:sp>
      <p:sp>
        <p:nvSpPr>
          <p:cNvPr id="29" name="Text 24"/>
          <p:cNvSpPr/>
          <p:nvPr/>
        </p:nvSpPr>
        <p:spPr>
          <a:xfrm>
            <a:off x="1524000" y="6165205"/>
            <a:ext cx="37745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documento «Gestión de propiedad Linux».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746772"/>
            <a:ext cx="1982837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861072"/>
            <a:ext cx="14494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PERMISOS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499247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Quién puede leer, escribir y ejecutar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se leen los permisos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2895600" cy="192405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1762125" y="2275284"/>
            <a:ext cx="26612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Lectura · r</a:t>
            </a:r>
            <a:endParaRPr lang="en-US" sz="2100" dirty="0"/>
          </a:p>
        </p:txBody>
      </p:sp>
      <p:sp>
        <p:nvSpPr>
          <p:cNvPr id="8" name="Shape 3"/>
          <p:cNvSpPr/>
          <p:nvPr/>
        </p:nvSpPr>
        <p:spPr>
          <a:xfrm>
            <a:off x="1762125" y="2665809"/>
            <a:ext cx="76244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1895475" y="2703909"/>
            <a:ext cx="5719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4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762125" y="3037284"/>
            <a:ext cx="183326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contenido del archivo o listar el directorio.</a:t>
            </a:r>
            <a:endParaRPr lang="en-US" sz="1575" dirty="0"/>
          </a:p>
        </p:txBody>
      </p:sp>
      <p:sp>
        <p:nvSpPr>
          <p:cNvPr id="11" name="Shape 6"/>
          <p:cNvSpPr/>
          <p:nvPr/>
        </p:nvSpPr>
        <p:spPr>
          <a:xfrm>
            <a:off x="4648200" y="2037159"/>
            <a:ext cx="2895600" cy="192405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886325" y="2275284"/>
            <a:ext cx="26612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Escritura · w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4886325" y="2665809"/>
            <a:ext cx="760214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4" name="Text 9"/>
          <p:cNvSpPr/>
          <p:nvPr/>
        </p:nvSpPr>
        <p:spPr>
          <a:xfrm>
            <a:off x="5019675" y="2703909"/>
            <a:ext cx="5697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86325" y="3037284"/>
            <a:ext cx="247739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 el archivo o crear y borrar entradas en el directorio.</a:t>
            </a:r>
            <a:endParaRPr lang="en-US" sz="1575" dirty="0"/>
          </a:p>
        </p:txBody>
      </p:sp>
      <p:sp>
        <p:nvSpPr>
          <p:cNvPr id="16" name="Shape 11"/>
          <p:cNvSpPr/>
          <p:nvPr/>
        </p:nvSpPr>
        <p:spPr>
          <a:xfrm>
            <a:off x="7772400" y="2037159"/>
            <a:ext cx="2895600" cy="192405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010525" y="2275284"/>
            <a:ext cx="26612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· x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8010525" y="2665809"/>
            <a:ext cx="748308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9" name="Text 14"/>
          <p:cNvSpPr/>
          <p:nvPr/>
        </p:nvSpPr>
        <p:spPr>
          <a:xfrm>
            <a:off x="8143875" y="2703909"/>
            <a:ext cx="5578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1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10525" y="3037284"/>
            <a:ext cx="2466677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el archivo o entrar en el directorio con cd.</a:t>
            </a:r>
            <a:endParaRPr lang="en-US" sz="1575" dirty="0"/>
          </a:p>
        </p:txBody>
      </p:sp>
      <p:sp>
        <p:nvSpPr>
          <p:cNvPr id="21" name="Shape 16"/>
          <p:cNvSpPr/>
          <p:nvPr/>
        </p:nvSpPr>
        <p:spPr>
          <a:xfrm>
            <a:off x="1524000" y="4266009"/>
            <a:ext cx="9144000" cy="1276350"/>
          </a:xfrm>
          <a:prstGeom prst="roundRect">
            <a:avLst>
              <a:gd name="adj" fmla="val 8955"/>
            </a:avLst>
          </a:prstGeom>
          <a:solidFill>
            <a:srgbClr val="F8F8F8"/>
          </a:solidFill>
          <a:ln/>
        </p:spPr>
      </p:sp>
      <p:sp>
        <p:nvSpPr>
          <p:cNvPr id="22" name="Text 17"/>
          <p:cNvSpPr/>
          <p:nvPr/>
        </p:nvSpPr>
        <p:spPr>
          <a:xfrm>
            <a:off x="1752600" y="4494609"/>
            <a:ext cx="18433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-rwxr-xr-x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3733205" y="4589859"/>
            <a:ext cx="73768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 </a:t>
            </a:r>
            <a:pPr algn="l" indent="0" marL="0">
              <a:buNone/>
            </a:pPr>
            <a:r>
              <a:rPr lang="en-US" sz="157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</a:t>
            </a:r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rwx (7) · grupo </a:t>
            </a:r>
            <a:pPr algn="l" indent="0" marL="0">
              <a:buNone/>
            </a:pPr>
            <a:r>
              <a:rPr lang="en-US" sz="157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</a:t>
            </a:r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r-x (5) · otros </a:t>
            </a:r>
            <a:pPr algn="l" indent="0" marL="0">
              <a:buNone/>
            </a:pPr>
            <a:r>
              <a:rPr lang="en-US" sz="157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r-x (5) → </a:t>
            </a:r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755</a:t>
            </a:r>
            <a:endParaRPr lang="en-US" sz="1575" dirty="0"/>
          </a:p>
        </p:txBody>
      </p:sp>
      <p:sp>
        <p:nvSpPr>
          <p:cNvPr id="24" name="Text 19"/>
          <p:cNvSpPr/>
          <p:nvPr/>
        </p:nvSpPr>
        <p:spPr>
          <a:xfrm>
            <a:off x="1752600" y="4961334"/>
            <a:ext cx="18433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3733205" y="5056584"/>
            <a:ext cx="73768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 lee y escribe (6 = 4 + 2) · grupo y otros solo leen (4) → </a:t>
            </a:r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644</a:t>
            </a:r>
            <a:endParaRPr lang="en-US" sz="1575" dirty="0"/>
          </a:p>
        </p:txBody>
      </p:sp>
      <p:sp>
        <p:nvSpPr>
          <p:cNvPr id="26" name="Text 2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9418320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Anatomía de la cadena de permisos</a:t>
            </a:r>
            <a:endParaRPr lang="en-US" sz="4350" dirty="0"/>
          </a:p>
        </p:txBody>
      </p:sp>
      <p:sp>
        <p:nvSpPr>
          <p:cNvPr id="6" name="Text 1"/>
          <p:cNvSpPr/>
          <p:nvPr/>
        </p:nvSpPr>
        <p:spPr>
          <a:xfrm>
            <a:off x="1524000" y="2454325"/>
            <a:ext cx="10058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</a:t>
            </a:r>
            <a:pPr algn="l" indent="0" marL="0">
              <a:buNone/>
            </a:pPr>
            <a:r>
              <a:rPr lang="en-US" sz="15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10 caracteres: tipo de elemento y tres bloques de permisos.</a:t>
            </a:r>
            <a:endParaRPr lang="en-US" sz="1575" dirty="0"/>
          </a:p>
        </p:txBody>
      </p:sp>
      <p:sp>
        <p:nvSpPr>
          <p:cNvPr id="7" name="Shape 2"/>
          <p:cNvSpPr/>
          <p:nvPr/>
        </p:nvSpPr>
        <p:spPr>
          <a:xfrm>
            <a:off x="3365599" y="2987725"/>
            <a:ext cx="728960" cy="800100"/>
          </a:xfrm>
          <a:prstGeom prst="roundRect">
            <a:avLst>
              <a:gd name="adj" fmla="val 15680"/>
            </a:avLst>
          </a:prstGeom>
          <a:solidFill>
            <a:srgbClr val="F5B53C"/>
          </a:solidFill>
          <a:ln/>
        </p:spPr>
      </p:sp>
      <p:sp>
        <p:nvSpPr>
          <p:cNvPr id="8" name="Text 3"/>
          <p:cNvSpPr/>
          <p:nvPr/>
        </p:nvSpPr>
        <p:spPr>
          <a:xfrm>
            <a:off x="3556099" y="3063925"/>
            <a:ext cx="42085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spc="348" kern="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4350" dirty="0"/>
          </a:p>
        </p:txBody>
      </p:sp>
      <p:sp>
        <p:nvSpPr>
          <p:cNvPr id="9" name="Text 4"/>
          <p:cNvSpPr/>
          <p:nvPr/>
        </p:nvSpPr>
        <p:spPr>
          <a:xfrm>
            <a:off x="3521125" y="3864025"/>
            <a:ext cx="4939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</a:t>
            </a:r>
            <a:endParaRPr lang="en-US" sz="1575" dirty="0"/>
          </a:p>
        </p:txBody>
      </p:sp>
      <p:sp>
        <p:nvSpPr>
          <p:cNvPr id="10" name="Text 5"/>
          <p:cNvSpPr/>
          <p:nvPr/>
        </p:nvSpPr>
        <p:spPr>
          <a:xfrm>
            <a:off x="3391198" y="4178350"/>
            <a:ext cx="7538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carácter 1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246959" y="2987725"/>
            <a:ext cx="1424880" cy="800100"/>
          </a:xfrm>
          <a:prstGeom prst="roundRect">
            <a:avLst>
              <a:gd name="adj" fmla="val 14286"/>
            </a:avLst>
          </a:prstGeom>
          <a:solidFill>
            <a:srgbClr val="2585B6"/>
          </a:solidFill>
          <a:ln/>
        </p:spPr>
      </p:sp>
      <p:sp>
        <p:nvSpPr>
          <p:cNvPr id="12" name="Text 7"/>
          <p:cNvSpPr/>
          <p:nvPr/>
        </p:nvSpPr>
        <p:spPr>
          <a:xfrm>
            <a:off x="4437459" y="3063925"/>
            <a:ext cx="118636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spc="348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</a:t>
            </a:r>
            <a:endParaRPr lang="en-US" sz="4350" dirty="0"/>
          </a:p>
        </p:txBody>
      </p:sp>
      <p:sp>
        <p:nvSpPr>
          <p:cNvPr id="13" name="Text 8"/>
          <p:cNvSpPr/>
          <p:nvPr/>
        </p:nvSpPr>
        <p:spPr>
          <a:xfrm>
            <a:off x="4307830" y="3864025"/>
            <a:ext cx="14334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Propietario · u</a:t>
            </a:r>
            <a:endParaRPr lang="en-US" sz="1575" dirty="0"/>
          </a:p>
        </p:txBody>
      </p:sp>
      <p:sp>
        <p:nvSpPr>
          <p:cNvPr id="14" name="Text 9"/>
          <p:cNvSpPr/>
          <p:nvPr/>
        </p:nvSpPr>
        <p:spPr>
          <a:xfrm>
            <a:off x="4455319" y="4178350"/>
            <a:ext cx="10843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2–4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824240" y="2987725"/>
            <a:ext cx="1424880" cy="800100"/>
          </a:xfrm>
          <a:prstGeom prst="roundRect">
            <a:avLst>
              <a:gd name="adj" fmla="val 14286"/>
            </a:avLst>
          </a:prstGeom>
          <a:solidFill>
            <a:srgbClr val="0C4F6D"/>
          </a:solidFill>
          <a:ln/>
        </p:spPr>
      </p:sp>
      <p:sp>
        <p:nvSpPr>
          <p:cNvPr id="16" name="Text 11"/>
          <p:cNvSpPr/>
          <p:nvPr/>
        </p:nvSpPr>
        <p:spPr>
          <a:xfrm>
            <a:off x="6014740" y="3063925"/>
            <a:ext cx="118636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spc="348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endParaRPr lang="en-US" sz="4350" dirty="0"/>
          </a:p>
        </p:txBody>
      </p:sp>
      <p:sp>
        <p:nvSpPr>
          <p:cNvPr id="17" name="Text 12"/>
          <p:cNvSpPr/>
          <p:nvPr/>
        </p:nvSpPr>
        <p:spPr>
          <a:xfrm>
            <a:off x="6109692" y="3864025"/>
            <a:ext cx="9300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· g</a:t>
            </a:r>
            <a:endParaRPr lang="en-US" sz="1575" dirty="0"/>
          </a:p>
        </p:txBody>
      </p:sp>
      <p:sp>
        <p:nvSpPr>
          <p:cNvPr id="18" name="Text 13"/>
          <p:cNvSpPr/>
          <p:nvPr/>
        </p:nvSpPr>
        <p:spPr>
          <a:xfrm>
            <a:off x="6032599" y="4178350"/>
            <a:ext cx="10843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5–7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01520" y="2987725"/>
            <a:ext cx="1424880" cy="800100"/>
          </a:xfrm>
          <a:prstGeom prst="roundRect">
            <a:avLst>
              <a:gd name="adj" fmla="val 14286"/>
            </a:avLst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7592020" y="3063925"/>
            <a:ext cx="118636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spc="348" kern="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r--</a:t>
            </a:r>
            <a:endParaRPr lang="en-US" sz="4350" dirty="0"/>
          </a:p>
        </p:txBody>
      </p:sp>
      <p:sp>
        <p:nvSpPr>
          <p:cNvPr id="21" name="Text 16"/>
          <p:cNvSpPr/>
          <p:nvPr/>
        </p:nvSpPr>
        <p:spPr>
          <a:xfrm>
            <a:off x="7725221" y="3864025"/>
            <a:ext cx="8535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· o</a:t>
            </a:r>
            <a:endParaRPr lang="en-US" sz="1575" dirty="0"/>
          </a:p>
        </p:txBody>
      </p:sp>
      <p:sp>
        <p:nvSpPr>
          <p:cNvPr id="22" name="Text 17"/>
          <p:cNvSpPr/>
          <p:nvPr/>
        </p:nvSpPr>
        <p:spPr>
          <a:xfrm>
            <a:off x="7567464" y="4178350"/>
            <a:ext cx="11690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8–10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524000" y="4654600"/>
            <a:ext cx="4457700" cy="1416546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1762125" y="4892725"/>
            <a:ext cx="437959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Primer carácter</a:t>
            </a:r>
            <a:endParaRPr lang="en-US" sz="2025" dirty="0"/>
          </a:p>
        </p:txBody>
      </p:sp>
      <p:sp>
        <p:nvSpPr>
          <p:cNvPr id="25" name="Text 20"/>
          <p:cNvSpPr/>
          <p:nvPr/>
        </p:nvSpPr>
        <p:spPr>
          <a:xfrm>
            <a:off x="1762125" y="5354092"/>
            <a:ext cx="1757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25" dirty="0"/>
          </a:p>
        </p:txBody>
      </p:sp>
      <p:sp>
        <p:nvSpPr>
          <p:cNvPr id="26" name="Text 21"/>
          <p:cNvSpPr/>
          <p:nvPr/>
        </p:nvSpPr>
        <p:spPr>
          <a:xfrm>
            <a:off x="1911846" y="5354092"/>
            <a:ext cx="1373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normal ·</a:t>
            </a:r>
            <a:endParaRPr lang="en-US" sz="1425" dirty="0"/>
          </a:p>
        </p:txBody>
      </p:sp>
      <p:sp>
        <p:nvSpPr>
          <p:cNvPr id="27" name="Text 22"/>
          <p:cNvSpPr/>
          <p:nvPr/>
        </p:nvSpPr>
        <p:spPr>
          <a:xfrm>
            <a:off x="3259782" y="5354092"/>
            <a:ext cx="1757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425" dirty="0"/>
          </a:p>
        </p:txBody>
      </p:sp>
      <p:sp>
        <p:nvSpPr>
          <p:cNvPr id="28" name="Text 23"/>
          <p:cNvSpPr/>
          <p:nvPr/>
        </p:nvSpPr>
        <p:spPr>
          <a:xfrm>
            <a:off x="3409504" y="5354092"/>
            <a:ext cx="93121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·</a:t>
            </a:r>
            <a:endParaRPr lang="en-US" sz="1425" dirty="0"/>
          </a:p>
        </p:txBody>
      </p:sp>
      <p:sp>
        <p:nvSpPr>
          <p:cNvPr id="29" name="Text 24"/>
          <p:cNvSpPr/>
          <p:nvPr/>
        </p:nvSpPr>
        <p:spPr>
          <a:xfrm>
            <a:off x="4314825" y="5354092"/>
            <a:ext cx="17576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425" dirty="0"/>
          </a:p>
        </p:txBody>
      </p:sp>
      <p:sp>
        <p:nvSpPr>
          <p:cNvPr id="30" name="Text 25"/>
          <p:cNvSpPr/>
          <p:nvPr/>
        </p:nvSpPr>
        <p:spPr>
          <a:xfrm>
            <a:off x="1762125" y="5354092"/>
            <a:ext cx="3333049" cy="49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simbólico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6210300" y="4654600"/>
            <a:ext cx="4457700" cy="1416546"/>
          </a:xfrm>
          <a:prstGeom prst="roundRect">
            <a:avLst>
              <a:gd name="adj" fmla="val 8069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448425" y="4892725"/>
            <a:ext cx="437959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Lectura del ejemplo</a:t>
            </a:r>
            <a:endParaRPr lang="en-US" sz="2025" dirty="0"/>
          </a:p>
        </p:txBody>
      </p:sp>
      <p:sp>
        <p:nvSpPr>
          <p:cNvPr id="33" name="Text 28"/>
          <p:cNvSpPr/>
          <p:nvPr/>
        </p:nvSpPr>
        <p:spPr>
          <a:xfrm>
            <a:off x="6448425" y="5354092"/>
            <a:ext cx="3833857" cy="482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 con rwx, grupo lee y ejecuta, otros solo leen. El guion indica permiso no concedido.</a:t>
            </a:r>
            <a:endParaRPr lang="en-US" sz="1425" dirty="0"/>
          </a:p>
        </p:txBody>
      </p:sp>
      <p:sp>
        <p:nvSpPr>
          <p:cNvPr id="34" name="Text 29"/>
          <p:cNvSpPr/>
          <p:nvPr/>
        </p:nvSpPr>
        <p:spPr>
          <a:xfrm>
            <a:off x="1524000" y="6165205"/>
            <a:ext cx="34664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documento «Permisos Linux: chmod».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Cambiar permisos: chmod y umask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25602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13359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4084290" y="2037159"/>
            <a:ext cx="16458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4217640" y="2113359"/>
            <a:ext cx="1455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Modo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5730180" y="2037159"/>
            <a:ext cx="493782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5863530" y="2113359"/>
            <a:ext cx="48192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562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75309"/>
            <a:ext cx="237039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a+r nota.txt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4084290" y="2756297"/>
            <a:ext cx="16458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4217640" y="2475309"/>
            <a:ext cx="14553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Simbólico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5730180" y="2756297"/>
            <a:ext cx="49378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5863530" y="2475309"/>
            <a:ext cx="481925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para todos (a = all)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6582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1277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4202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ugo+rwx public/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4084290" y="2765822"/>
            <a:ext cx="16458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4084290" y="3127772"/>
            <a:ext cx="16458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4217640" y="2842022"/>
            <a:ext cx="1455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Simbólico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5730180" y="2765822"/>
            <a:ext cx="493782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5730180" y="3127772"/>
            <a:ext cx="49378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5863530" y="2842022"/>
            <a:ext cx="48192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Lectura, escritura y ejecución a los tres roles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4992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213497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go-rwx privado/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4084290" y="3499247"/>
            <a:ext cx="16458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4217640" y="3213497"/>
            <a:ext cx="1455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Simbólico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5730180" y="3499247"/>
            <a:ext cx="49378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5863530" y="3213497"/>
            <a:ext cx="48192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 todo al grupo y a otros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50877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38707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58497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-R 755 /var/www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4084290" y="3508772"/>
            <a:ext cx="16458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4084290" y="3870722"/>
            <a:ext cx="16458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4217640" y="3584972"/>
            <a:ext cx="1455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 recursivo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5730180" y="3508772"/>
            <a:ext cx="493782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5730180" y="3870722"/>
            <a:ext cx="49378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5863530" y="3584972"/>
            <a:ext cx="48192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rwx, g = r-x, o = r-x en todo el árbol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2421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3956447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644 config.conf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4084290" y="4242197"/>
            <a:ext cx="16458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4217640" y="3956447"/>
            <a:ext cx="1455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5730180" y="4242197"/>
            <a:ext cx="49378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5863530" y="3956447"/>
            <a:ext cx="48192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 lee y escribe; grupo y otros solo leen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251722"/>
            <a:ext cx="25602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6136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327922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777 script.sh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4084290" y="4251722"/>
            <a:ext cx="16458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4084290" y="4613672"/>
            <a:ext cx="16458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4217640" y="4327922"/>
            <a:ext cx="1455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5730180" y="4251722"/>
            <a:ext cx="493782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5730180" y="4613672"/>
            <a:ext cx="49378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5863530" y="4327922"/>
            <a:ext cx="48192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para todos; evitar en producción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49851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4699397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umask 022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4084290" y="4985147"/>
            <a:ext cx="16458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4217640" y="4699397"/>
            <a:ext cx="1455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Máscara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5730180" y="4985147"/>
            <a:ext cx="493782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5863530" y="4699397"/>
            <a:ext cx="48192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nuevos nacen con 644 y directorios con 755</a:t>
            </a:r>
            <a:endParaRPr lang="en-US" sz="1425" dirty="0"/>
          </a:p>
        </p:txBody>
      </p:sp>
      <p:sp>
        <p:nvSpPr>
          <p:cNvPr id="63" name="Text 58"/>
          <p:cNvSpPr/>
          <p:nvPr/>
        </p:nvSpPr>
        <p:spPr>
          <a:xfrm>
            <a:off x="1524000" y="6165205"/>
            <a:ext cx="47991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Linux, secciones 2 y 4.</a:t>
            </a:r>
            <a:endParaRPr lang="en-US" sz="1200" dirty="0"/>
          </a:p>
        </p:txBody>
      </p:sp>
      <p:sp>
        <p:nvSpPr>
          <p:cNvPr id="64" name="Text 59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Modo simbólico y modo octal</a:t>
            </a:r>
            <a:endParaRPr lang="en-US" sz="4350" dirty="0"/>
          </a:p>
        </p:txBody>
      </p:sp>
      <p:sp>
        <p:nvSpPr>
          <p:cNvPr id="6" name="Text 1"/>
          <p:cNvSpPr/>
          <p:nvPr/>
        </p:nvSpPr>
        <p:spPr>
          <a:xfrm>
            <a:off x="1524000" y="1999059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Simbólico: rol + operador + permiso</a:t>
            </a:r>
            <a:endParaRPr lang="en-US" sz="2025" dirty="0"/>
          </a:p>
        </p:txBody>
      </p:sp>
      <p:sp>
        <p:nvSpPr>
          <p:cNvPr id="7" name="Shape 2"/>
          <p:cNvSpPr/>
          <p:nvPr/>
        </p:nvSpPr>
        <p:spPr>
          <a:xfrm>
            <a:off x="1524000" y="2408634"/>
            <a:ext cx="955625" cy="257175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/>
        </p:spPr>
      </p:sp>
      <p:sp>
        <p:nvSpPr>
          <p:cNvPr id="8" name="Text 3"/>
          <p:cNvSpPr/>
          <p:nvPr/>
        </p:nvSpPr>
        <p:spPr>
          <a:xfrm>
            <a:off x="1657350" y="2446734"/>
            <a:ext cx="7651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670125" y="2427684"/>
            <a:ext cx="333243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 ·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·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·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1524000" y="2942034"/>
            <a:ext cx="955625" cy="257175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57350" y="2980134"/>
            <a:ext cx="7651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Operador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670125" y="2961084"/>
            <a:ext cx="355891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·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quitar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1524000" y="3294459"/>
            <a:ext cx="955625" cy="257175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/>
        </p:spPr>
      </p:sp>
      <p:sp>
        <p:nvSpPr>
          <p:cNvPr id="14" name="Text 9"/>
          <p:cNvSpPr/>
          <p:nvPr/>
        </p:nvSpPr>
        <p:spPr>
          <a:xfrm>
            <a:off x="1657350" y="3332559"/>
            <a:ext cx="7651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Permiso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670125" y="3313509"/>
            <a:ext cx="355891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·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 ·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1524000" y="3780234"/>
            <a:ext cx="4381500" cy="1104900"/>
          </a:xfrm>
          <a:prstGeom prst="roundRect">
            <a:avLst>
              <a:gd name="adj" fmla="val 10345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724025" y="3942159"/>
            <a:ext cx="43795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a+r archivo.txt</a:t>
            </a:r>
            <a:endParaRPr lang="en-US" sz="1425" dirty="0"/>
          </a:p>
        </p:txBody>
      </p:sp>
      <p:sp>
        <p:nvSpPr>
          <p:cNvPr id="18" name="Text 13"/>
          <p:cNvSpPr/>
          <p:nvPr/>
        </p:nvSpPr>
        <p:spPr>
          <a:xfrm>
            <a:off x="1724025" y="4227909"/>
            <a:ext cx="43795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go-rwx carpeta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1724025" y="4513659"/>
            <a:ext cx="43795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-R ugo+rwx carpeta</a:t>
            </a:r>
            <a:endParaRPr lang="en-US" sz="1425" dirty="0"/>
          </a:p>
        </p:txBody>
      </p:sp>
      <p:sp>
        <p:nvSpPr>
          <p:cNvPr id="20" name="Text 15"/>
          <p:cNvSpPr/>
          <p:nvPr/>
        </p:nvSpPr>
        <p:spPr>
          <a:xfrm>
            <a:off x="1524000" y="4999434"/>
            <a:ext cx="4819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 aplica el cambio a todo el contenido del directorio.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86500" y="1999059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Octal: suma de r = 4, w = 2, x = 1</a:t>
            </a:r>
            <a:endParaRPr lang="en-US" sz="2025" dirty="0"/>
          </a:p>
        </p:txBody>
      </p:sp>
      <p:sp>
        <p:nvSpPr>
          <p:cNvPr id="22" name="Shape 17"/>
          <p:cNvSpPr/>
          <p:nvPr/>
        </p:nvSpPr>
        <p:spPr>
          <a:xfrm>
            <a:off x="6286500" y="2408634"/>
            <a:ext cx="963811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23" name="Text 18"/>
          <p:cNvSpPr/>
          <p:nvPr/>
        </p:nvSpPr>
        <p:spPr>
          <a:xfrm>
            <a:off x="6419850" y="2484834"/>
            <a:ext cx="77331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7250311" y="2408634"/>
            <a:ext cx="131445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25" name="Text 20"/>
          <p:cNvSpPr/>
          <p:nvPr/>
        </p:nvSpPr>
        <p:spPr>
          <a:xfrm>
            <a:off x="7383661" y="2484834"/>
            <a:ext cx="1123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Suma</a:t>
            </a:r>
            <a:endParaRPr lang="en-US" sz="1425" dirty="0"/>
          </a:p>
        </p:txBody>
      </p:sp>
      <p:sp>
        <p:nvSpPr>
          <p:cNvPr id="26" name="Shape 21"/>
          <p:cNvSpPr/>
          <p:nvPr/>
        </p:nvSpPr>
        <p:spPr>
          <a:xfrm>
            <a:off x="8564761" y="2408634"/>
            <a:ext cx="2103239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27" name="Text 22"/>
          <p:cNvSpPr/>
          <p:nvPr/>
        </p:nvSpPr>
        <p:spPr>
          <a:xfrm>
            <a:off x="8698111" y="2484834"/>
            <a:ext cx="19127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Permisos</a:t>
            </a:r>
            <a:endParaRPr lang="en-US" sz="1425" dirty="0"/>
          </a:p>
        </p:txBody>
      </p:sp>
      <p:sp>
        <p:nvSpPr>
          <p:cNvPr id="28" name="Shape 23"/>
          <p:cNvSpPr/>
          <p:nvPr/>
        </p:nvSpPr>
        <p:spPr>
          <a:xfrm>
            <a:off x="6286500" y="3127772"/>
            <a:ext cx="96381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6419850" y="2846784"/>
            <a:ext cx="77331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7250311" y="3127772"/>
            <a:ext cx="131445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7383661" y="2846784"/>
            <a:ext cx="11239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+ 2 + 1</a:t>
            </a:r>
            <a:endParaRPr lang="en-US" sz="1425" dirty="0"/>
          </a:p>
        </p:txBody>
      </p:sp>
      <p:sp>
        <p:nvSpPr>
          <p:cNvPr id="32" name="Shape 27"/>
          <p:cNvSpPr/>
          <p:nvPr/>
        </p:nvSpPr>
        <p:spPr>
          <a:xfrm>
            <a:off x="8564761" y="3127772"/>
            <a:ext cx="2103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8698111" y="2846784"/>
            <a:ext cx="191273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6286500" y="3137297"/>
            <a:ext cx="963811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6286500" y="3499247"/>
            <a:ext cx="96381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6419850" y="3213497"/>
            <a:ext cx="77331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25" dirty="0"/>
          </a:p>
        </p:txBody>
      </p:sp>
      <p:sp>
        <p:nvSpPr>
          <p:cNvPr id="37" name="Shape 32"/>
          <p:cNvSpPr/>
          <p:nvPr/>
        </p:nvSpPr>
        <p:spPr>
          <a:xfrm>
            <a:off x="7250311" y="3137297"/>
            <a:ext cx="131445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7250311" y="3499247"/>
            <a:ext cx="131445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7383661" y="3213497"/>
            <a:ext cx="1123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+ 2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8564761" y="3137297"/>
            <a:ext cx="21032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1" name="Shape 36"/>
          <p:cNvSpPr/>
          <p:nvPr/>
        </p:nvSpPr>
        <p:spPr>
          <a:xfrm>
            <a:off x="8564761" y="3499247"/>
            <a:ext cx="2103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2" name="Text 37"/>
          <p:cNvSpPr/>
          <p:nvPr/>
        </p:nvSpPr>
        <p:spPr>
          <a:xfrm>
            <a:off x="8698111" y="3213497"/>
            <a:ext cx="19127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rw-</a:t>
            </a:r>
            <a:endParaRPr lang="en-US" sz="1425" dirty="0"/>
          </a:p>
        </p:txBody>
      </p:sp>
      <p:sp>
        <p:nvSpPr>
          <p:cNvPr id="43" name="Shape 38"/>
          <p:cNvSpPr/>
          <p:nvPr/>
        </p:nvSpPr>
        <p:spPr>
          <a:xfrm>
            <a:off x="6286500" y="3870722"/>
            <a:ext cx="96381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4" name="Text 39"/>
          <p:cNvSpPr/>
          <p:nvPr/>
        </p:nvSpPr>
        <p:spPr>
          <a:xfrm>
            <a:off x="6419850" y="3584972"/>
            <a:ext cx="77331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25" dirty="0"/>
          </a:p>
        </p:txBody>
      </p:sp>
      <p:sp>
        <p:nvSpPr>
          <p:cNvPr id="45" name="Shape 40"/>
          <p:cNvSpPr/>
          <p:nvPr/>
        </p:nvSpPr>
        <p:spPr>
          <a:xfrm>
            <a:off x="7250311" y="3870722"/>
            <a:ext cx="131445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6" name="Text 41"/>
          <p:cNvSpPr/>
          <p:nvPr/>
        </p:nvSpPr>
        <p:spPr>
          <a:xfrm>
            <a:off x="7383661" y="3584972"/>
            <a:ext cx="1123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+ 1</a:t>
            </a:r>
            <a:endParaRPr lang="en-US" sz="1425" dirty="0"/>
          </a:p>
        </p:txBody>
      </p:sp>
      <p:sp>
        <p:nvSpPr>
          <p:cNvPr id="47" name="Shape 42"/>
          <p:cNvSpPr/>
          <p:nvPr/>
        </p:nvSpPr>
        <p:spPr>
          <a:xfrm>
            <a:off x="8564761" y="3870722"/>
            <a:ext cx="2103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8" name="Text 43"/>
          <p:cNvSpPr/>
          <p:nvPr/>
        </p:nvSpPr>
        <p:spPr>
          <a:xfrm>
            <a:off x="8698111" y="3584972"/>
            <a:ext cx="19127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endParaRPr lang="en-US" sz="1425" dirty="0"/>
          </a:p>
        </p:txBody>
      </p:sp>
      <p:sp>
        <p:nvSpPr>
          <p:cNvPr id="49" name="Shape 44"/>
          <p:cNvSpPr/>
          <p:nvPr/>
        </p:nvSpPr>
        <p:spPr>
          <a:xfrm>
            <a:off x="6286500" y="3880247"/>
            <a:ext cx="963811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0" name="Shape 45"/>
          <p:cNvSpPr/>
          <p:nvPr/>
        </p:nvSpPr>
        <p:spPr>
          <a:xfrm>
            <a:off x="6286500" y="4242197"/>
            <a:ext cx="96381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1" name="Text 46"/>
          <p:cNvSpPr/>
          <p:nvPr/>
        </p:nvSpPr>
        <p:spPr>
          <a:xfrm>
            <a:off x="6419850" y="3956447"/>
            <a:ext cx="77331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25" dirty="0"/>
          </a:p>
        </p:txBody>
      </p:sp>
      <p:sp>
        <p:nvSpPr>
          <p:cNvPr id="52" name="Shape 47"/>
          <p:cNvSpPr/>
          <p:nvPr/>
        </p:nvSpPr>
        <p:spPr>
          <a:xfrm>
            <a:off x="7250311" y="3880247"/>
            <a:ext cx="131445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3" name="Shape 48"/>
          <p:cNvSpPr/>
          <p:nvPr/>
        </p:nvSpPr>
        <p:spPr>
          <a:xfrm>
            <a:off x="7250311" y="4242197"/>
            <a:ext cx="131445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4" name="Text 49"/>
          <p:cNvSpPr/>
          <p:nvPr/>
        </p:nvSpPr>
        <p:spPr>
          <a:xfrm>
            <a:off x="7383661" y="3956447"/>
            <a:ext cx="1123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25" dirty="0"/>
          </a:p>
        </p:txBody>
      </p:sp>
      <p:sp>
        <p:nvSpPr>
          <p:cNvPr id="55" name="Shape 50"/>
          <p:cNvSpPr/>
          <p:nvPr/>
        </p:nvSpPr>
        <p:spPr>
          <a:xfrm>
            <a:off x="8564761" y="3880247"/>
            <a:ext cx="21032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6" name="Shape 51"/>
          <p:cNvSpPr/>
          <p:nvPr/>
        </p:nvSpPr>
        <p:spPr>
          <a:xfrm>
            <a:off x="8564761" y="4242197"/>
            <a:ext cx="2103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7" name="Text 52"/>
          <p:cNvSpPr/>
          <p:nvPr/>
        </p:nvSpPr>
        <p:spPr>
          <a:xfrm>
            <a:off x="8698111" y="3956447"/>
            <a:ext cx="19127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r--</a:t>
            </a:r>
            <a:endParaRPr lang="en-US" sz="1425" dirty="0"/>
          </a:p>
        </p:txBody>
      </p:sp>
      <p:sp>
        <p:nvSpPr>
          <p:cNvPr id="58" name="Shape 53"/>
          <p:cNvSpPr/>
          <p:nvPr/>
        </p:nvSpPr>
        <p:spPr>
          <a:xfrm>
            <a:off x="6286500" y="4613672"/>
            <a:ext cx="96381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9" name="Text 54"/>
          <p:cNvSpPr/>
          <p:nvPr/>
        </p:nvSpPr>
        <p:spPr>
          <a:xfrm>
            <a:off x="6419850" y="4327922"/>
            <a:ext cx="77331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25" dirty="0"/>
          </a:p>
        </p:txBody>
      </p:sp>
      <p:sp>
        <p:nvSpPr>
          <p:cNvPr id="60" name="Shape 55"/>
          <p:cNvSpPr/>
          <p:nvPr/>
        </p:nvSpPr>
        <p:spPr>
          <a:xfrm>
            <a:off x="7250311" y="4613672"/>
            <a:ext cx="131445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1" name="Text 56"/>
          <p:cNvSpPr/>
          <p:nvPr/>
        </p:nvSpPr>
        <p:spPr>
          <a:xfrm>
            <a:off x="7383661" y="4327922"/>
            <a:ext cx="11239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25" dirty="0"/>
          </a:p>
        </p:txBody>
      </p:sp>
      <p:sp>
        <p:nvSpPr>
          <p:cNvPr id="62" name="Shape 57"/>
          <p:cNvSpPr/>
          <p:nvPr/>
        </p:nvSpPr>
        <p:spPr>
          <a:xfrm>
            <a:off x="8564761" y="4613672"/>
            <a:ext cx="21032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3" name="Text 58"/>
          <p:cNvSpPr/>
          <p:nvPr/>
        </p:nvSpPr>
        <p:spPr>
          <a:xfrm>
            <a:off x="8698111" y="4327922"/>
            <a:ext cx="191273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25" dirty="0"/>
          </a:p>
        </p:txBody>
      </p:sp>
      <p:sp>
        <p:nvSpPr>
          <p:cNvPr id="64" name="Text 59"/>
          <p:cNvSpPr/>
          <p:nvPr/>
        </p:nvSpPr>
        <p:spPr>
          <a:xfrm>
            <a:off x="6286500" y="4742259"/>
            <a:ext cx="45129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dígitos: propietario, grupo, otros.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 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rwxr-xr-x</a:t>
            </a:r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65" name="Text 60"/>
          <p:cNvSpPr/>
          <p:nvPr/>
        </p:nvSpPr>
        <p:spPr>
          <a:xfrm>
            <a:off x="1524000" y="6165205"/>
            <a:ext cx="34664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documento «Permisos Linux: chmod».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Tabla de permisos en octal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1960959"/>
            <a:ext cx="876151" cy="3238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018109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2400151" y="1960959"/>
            <a:ext cx="973634" cy="3238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2533501" y="2018109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rwx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3373785" y="1960959"/>
            <a:ext cx="3018532" cy="3238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3507135" y="2018109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Significado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603897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341959"/>
            <a:ext cx="68565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2400151" y="2603897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2533501" y="2341959"/>
            <a:ext cx="78313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3373785" y="2603897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3507135" y="2341959"/>
            <a:ext cx="284238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613422"/>
            <a:ext cx="876151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2937272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670572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2400151" y="2613422"/>
            <a:ext cx="973634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2400151" y="2937272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2533501" y="2670572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--x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3373785" y="2613422"/>
            <a:ext cx="3018532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3373785" y="2937272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3507135" y="2670572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270647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003947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2400151" y="3270647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2533501" y="3003947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-w-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3373785" y="3270647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3507135" y="3003947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280172"/>
            <a:ext cx="876151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3604022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337322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2400151" y="3280172"/>
            <a:ext cx="973634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2400151" y="3604022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2533501" y="3337322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-wx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3373785" y="3280172"/>
            <a:ext cx="3018532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3373785" y="3604022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3507135" y="3337322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 y ejecución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3937397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3670697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2400151" y="3937397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2533501" y="3670697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r--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3373785" y="3937397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3507135" y="3670697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3946922"/>
            <a:ext cx="876151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270772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004072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2400151" y="3946922"/>
            <a:ext cx="973634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2400151" y="4270772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2533501" y="4004072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3373785" y="3946922"/>
            <a:ext cx="3018532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3373785" y="4270772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3507135" y="4004072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y ejecución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4604147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4337447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2400151" y="4604147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2533501" y="4337447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rw-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3373785" y="4604147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3507135" y="4337447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y escritura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4613672"/>
            <a:ext cx="876151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4937522"/>
            <a:ext cx="87615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4670822"/>
            <a:ext cx="6856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2400151" y="4613672"/>
            <a:ext cx="973634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2400151" y="4937522"/>
            <a:ext cx="9736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2533501" y="4670822"/>
            <a:ext cx="783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3373785" y="4613672"/>
            <a:ext cx="3018532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3373785" y="4937522"/>
            <a:ext cx="3018532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3507135" y="4670822"/>
            <a:ext cx="2842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Lectura, escritura y ejecución</a:t>
            </a:r>
            <a:endParaRPr lang="en-US" sz="1425" dirty="0"/>
          </a:p>
        </p:txBody>
      </p:sp>
      <p:sp>
        <p:nvSpPr>
          <p:cNvPr id="72" name="Shape 67"/>
          <p:cNvSpPr/>
          <p:nvPr/>
        </p:nvSpPr>
        <p:spPr>
          <a:xfrm>
            <a:off x="6773317" y="1960959"/>
            <a:ext cx="3894683" cy="1651397"/>
          </a:xfrm>
          <a:prstGeom prst="roundRect">
            <a:avLst>
              <a:gd name="adj" fmla="val 6921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73" name="Text 68"/>
          <p:cNvSpPr/>
          <p:nvPr/>
        </p:nvSpPr>
        <p:spPr>
          <a:xfrm>
            <a:off x="7011442" y="2160984"/>
            <a:ext cx="37602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Regla</a:t>
            </a:r>
            <a:endParaRPr lang="en-US" sz="1800" dirty="0"/>
          </a:p>
        </p:txBody>
      </p:sp>
      <p:sp>
        <p:nvSpPr>
          <p:cNvPr id="74" name="Text 69"/>
          <p:cNvSpPr/>
          <p:nvPr/>
        </p:nvSpPr>
        <p:spPr>
          <a:xfrm>
            <a:off x="7011442" y="2557165"/>
            <a:ext cx="3520986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números: usuario, grupo y otros. Cada uno es una suma de:</a:t>
            </a:r>
            <a:endParaRPr lang="en-US" sz="1425" dirty="0"/>
          </a:p>
        </p:txBody>
      </p:sp>
      <p:sp>
        <p:nvSpPr>
          <p:cNvPr id="75" name="Text 70"/>
          <p:cNvSpPr/>
          <p:nvPr/>
        </p:nvSpPr>
        <p:spPr>
          <a:xfrm>
            <a:off x="7011442" y="3159026"/>
            <a:ext cx="573732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= r</a:t>
            </a:r>
            <a:endParaRPr lang="en-US" sz="1425" dirty="0"/>
          </a:p>
        </p:txBody>
      </p:sp>
      <p:sp>
        <p:nvSpPr>
          <p:cNvPr id="76" name="Text 71"/>
          <p:cNvSpPr/>
          <p:nvPr/>
        </p:nvSpPr>
        <p:spPr>
          <a:xfrm>
            <a:off x="7661374" y="3159026"/>
            <a:ext cx="573732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= w</a:t>
            </a:r>
            <a:endParaRPr lang="en-US" sz="1425" dirty="0"/>
          </a:p>
        </p:txBody>
      </p:sp>
      <p:sp>
        <p:nvSpPr>
          <p:cNvPr id="77" name="Text 72"/>
          <p:cNvSpPr/>
          <p:nvPr/>
        </p:nvSpPr>
        <p:spPr>
          <a:xfrm>
            <a:off x="8311307" y="3159026"/>
            <a:ext cx="573732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 x</a:t>
            </a:r>
            <a:endParaRPr lang="en-US" sz="1425" dirty="0"/>
          </a:p>
        </p:txBody>
      </p:sp>
      <p:sp>
        <p:nvSpPr>
          <p:cNvPr id="78" name="Shape 73"/>
          <p:cNvSpPr/>
          <p:nvPr/>
        </p:nvSpPr>
        <p:spPr>
          <a:xfrm>
            <a:off x="6773317" y="3802856"/>
            <a:ext cx="3894683" cy="1647825"/>
          </a:xfrm>
          <a:prstGeom prst="roundRect">
            <a:avLst>
              <a:gd name="adj" fmla="val 6936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7011442" y="4002881"/>
            <a:ext cx="37602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</a:t>
            </a:r>
            <a:endParaRPr lang="en-US" sz="1800" dirty="0"/>
          </a:p>
        </p:txBody>
      </p:sp>
      <p:sp>
        <p:nvSpPr>
          <p:cNvPr id="80" name="Text 75"/>
          <p:cNvSpPr/>
          <p:nvPr/>
        </p:nvSpPr>
        <p:spPr>
          <a:xfrm>
            <a:off x="7011442" y="4374356"/>
            <a:ext cx="10660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rw-r--r--</a:t>
            </a:r>
            <a:endParaRPr lang="en-US" sz="1575" dirty="0"/>
          </a:p>
        </p:txBody>
      </p:sp>
      <p:sp>
        <p:nvSpPr>
          <p:cNvPr id="81" name="Text 76"/>
          <p:cNvSpPr/>
          <p:nvPr/>
        </p:nvSpPr>
        <p:spPr>
          <a:xfrm>
            <a:off x="8153698" y="4374356"/>
            <a:ext cx="2762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75" dirty="0"/>
          </a:p>
        </p:txBody>
      </p:sp>
      <p:sp>
        <p:nvSpPr>
          <p:cNvPr id="82" name="Text 77"/>
          <p:cNvSpPr/>
          <p:nvPr/>
        </p:nvSpPr>
        <p:spPr>
          <a:xfrm>
            <a:off x="8506123" y="4374356"/>
            <a:ext cx="21161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644</a:t>
            </a:r>
            <a:endParaRPr lang="en-US" sz="1575" dirty="0"/>
          </a:p>
        </p:txBody>
      </p:sp>
      <p:sp>
        <p:nvSpPr>
          <p:cNvPr id="83" name="Text 78"/>
          <p:cNvSpPr/>
          <p:nvPr/>
        </p:nvSpPr>
        <p:spPr>
          <a:xfrm>
            <a:off x="7011442" y="4698206"/>
            <a:ext cx="10660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rwxrwxrwx</a:t>
            </a:r>
            <a:endParaRPr lang="en-US" sz="1575" dirty="0"/>
          </a:p>
        </p:txBody>
      </p:sp>
      <p:sp>
        <p:nvSpPr>
          <p:cNvPr id="84" name="Text 79"/>
          <p:cNvSpPr/>
          <p:nvPr/>
        </p:nvSpPr>
        <p:spPr>
          <a:xfrm>
            <a:off x="8153698" y="4698206"/>
            <a:ext cx="2762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75" dirty="0"/>
          </a:p>
        </p:txBody>
      </p:sp>
      <p:sp>
        <p:nvSpPr>
          <p:cNvPr id="85" name="Text 80"/>
          <p:cNvSpPr/>
          <p:nvPr/>
        </p:nvSpPr>
        <p:spPr>
          <a:xfrm>
            <a:off x="8506123" y="4698206"/>
            <a:ext cx="21161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777</a:t>
            </a:r>
            <a:endParaRPr lang="en-US" sz="1575" dirty="0"/>
          </a:p>
        </p:txBody>
      </p:sp>
      <p:sp>
        <p:nvSpPr>
          <p:cNvPr id="86" name="Text 81"/>
          <p:cNvSpPr/>
          <p:nvPr/>
        </p:nvSpPr>
        <p:spPr>
          <a:xfrm>
            <a:off x="7011442" y="5022056"/>
            <a:ext cx="10660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--x--x--x</a:t>
            </a:r>
            <a:endParaRPr lang="en-US" sz="1575" dirty="0"/>
          </a:p>
        </p:txBody>
      </p:sp>
      <p:sp>
        <p:nvSpPr>
          <p:cNvPr id="87" name="Text 82"/>
          <p:cNvSpPr/>
          <p:nvPr/>
        </p:nvSpPr>
        <p:spPr>
          <a:xfrm>
            <a:off x="8153698" y="5022056"/>
            <a:ext cx="2762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75" dirty="0"/>
          </a:p>
        </p:txBody>
      </p:sp>
      <p:sp>
        <p:nvSpPr>
          <p:cNvPr id="88" name="Text 83"/>
          <p:cNvSpPr/>
          <p:nvPr/>
        </p:nvSpPr>
        <p:spPr>
          <a:xfrm>
            <a:off x="8506123" y="5022056"/>
            <a:ext cx="21161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1575" dirty="0"/>
          </a:p>
        </p:txBody>
      </p:sp>
      <p:sp>
        <p:nvSpPr>
          <p:cNvPr id="89" name="Text 84"/>
          <p:cNvSpPr/>
          <p:nvPr/>
        </p:nvSpPr>
        <p:spPr>
          <a:xfrm>
            <a:off x="1524000" y="6165205"/>
            <a:ext cx="34664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documento «Permisos Linux: chmod».</a:t>
            </a:r>
            <a:endParaRPr lang="en-US" sz="1200" dirty="0"/>
          </a:p>
        </p:txBody>
      </p:sp>
      <p:sp>
        <p:nvSpPr>
          <p:cNvPr id="90" name="Text 85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Permisos y atributos especiales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1554361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13359"/>
            <a:ext cx="13638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Permiso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3078361" y="2037159"/>
            <a:ext cx="146298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3211711" y="2113359"/>
            <a:ext cx="12724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Notación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4541341" y="2037159"/>
            <a:ext cx="3566368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4674691" y="2113359"/>
            <a:ext cx="340665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Funcionamiento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8107710" y="2037159"/>
            <a:ext cx="25602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3" name="Text 8"/>
          <p:cNvSpPr/>
          <p:nvPr/>
        </p:nvSpPr>
        <p:spPr>
          <a:xfrm>
            <a:off x="8241060" y="2113359"/>
            <a:ext cx="237039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524000" y="2965847"/>
            <a:ext cx="1554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1657350" y="2475309"/>
            <a:ext cx="136386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SUID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3078361" y="2965847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3211711" y="2475309"/>
            <a:ext cx="12724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u+s · 4000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4541341" y="2965847"/>
            <a:ext cx="3566368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4674691" y="2475309"/>
            <a:ext cx="340665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el binario con privilegios del propietario; ls -l muestra rwsr-xr-x</a:t>
            </a:r>
            <a:endParaRPr lang="en-US" sz="1425" dirty="0"/>
          </a:p>
        </p:txBody>
      </p:sp>
      <p:sp>
        <p:nvSpPr>
          <p:cNvPr id="20" name="Shape 15"/>
          <p:cNvSpPr/>
          <p:nvPr/>
        </p:nvSpPr>
        <p:spPr>
          <a:xfrm>
            <a:off x="8107710" y="296584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8241060" y="2475309"/>
            <a:ext cx="237039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4755 /bin/fichero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1524000" y="2975372"/>
            <a:ext cx="1554361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3" name="Shape 18"/>
          <p:cNvSpPr/>
          <p:nvPr/>
        </p:nvSpPr>
        <p:spPr>
          <a:xfrm>
            <a:off x="1524000" y="3546872"/>
            <a:ext cx="1554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4" name="Text 19"/>
          <p:cNvSpPr/>
          <p:nvPr/>
        </p:nvSpPr>
        <p:spPr>
          <a:xfrm>
            <a:off x="1657350" y="3051572"/>
            <a:ext cx="13638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SGID</a:t>
            </a:r>
            <a:endParaRPr lang="en-US" sz="1425" dirty="0"/>
          </a:p>
        </p:txBody>
      </p:sp>
      <p:sp>
        <p:nvSpPr>
          <p:cNvPr id="25" name="Shape 20"/>
          <p:cNvSpPr/>
          <p:nvPr/>
        </p:nvSpPr>
        <p:spPr>
          <a:xfrm>
            <a:off x="3078361" y="2975372"/>
            <a:ext cx="146298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6" name="Shape 21"/>
          <p:cNvSpPr/>
          <p:nvPr/>
        </p:nvSpPr>
        <p:spPr>
          <a:xfrm>
            <a:off x="3078361" y="3546872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7" name="Text 22"/>
          <p:cNvSpPr/>
          <p:nvPr/>
        </p:nvSpPr>
        <p:spPr>
          <a:xfrm>
            <a:off x="3211711" y="3051572"/>
            <a:ext cx="1272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g+s · 2000</a:t>
            </a:r>
            <a:endParaRPr lang="en-US" sz="1425" dirty="0"/>
          </a:p>
        </p:txBody>
      </p:sp>
      <p:sp>
        <p:nvSpPr>
          <p:cNvPr id="28" name="Shape 23"/>
          <p:cNvSpPr/>
          <p:nvPr/>
        </p:nvSpPr>
        <p:spPr>
          <a:xfrm>
            <a:off x="4541341" y="2975372"/>
            <a:ext cx="3566368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Shape 24"/>
          <p:cNvSpPr/>
          <p:nvPr/>
        </p:nvSpPr>
        <p:spPr>
          <a:xfrm>
            <a:off x="4541341" y="3546872"/>
            <a:ext cx="3566368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4674691" y="3051572"/>
            <a:ext cx="34066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carpetas, los archivos nuevos heredan el grupo del directorio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8107710" y="2975372"/>
            <a:ext cx="256029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2" name="Shape 27"/>
          <p:cNvSpPr/>
          <p:nvPr/>
        </p:nvSpPr>
        <p:spPr>
          <a:xfrm>
            <a:off x="8107710" y="354687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8241060" y="3051572"/>
            <a:ext cx="23703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2775 /home/public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1524000" y="4127897"/>
            <a:ext cx="1554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632597"/>
            <a:ext cx="13638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bit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3078361" y="4127897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7" name="Text 32"/>
          <p:cNvSpPr/>
          <p:nvPr/>
        </p:nvSpPr>
        <p:spPr>
          <a:xfrm>
            <a:off x="3211711" y="3632597"/>
            <a:ext cx="1272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o+t · 1000</a:t>
            </a:r>
            <a:endParaRPr lang="en-US" sz="1425" dirty="0"/>
          </a:p>
        </p:txBody>
      </p:sp>
      <p:sp>
        <p:nvSpPr>
          <p:cNvPr id="38" name="Shape 33"/>
          <p:cNvSpPr/>
          <p:nvPr/>
        </p:nvSpPr>
        <p:spPr>
          <a:xfrm>
            <a:off x="4541341" y="4127897"/>
            <a:ext cx="3566368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4674691" y="3632597"/>
            <a:ext cx="34066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carpetas públicas, solo el dueño borra sus archivos; muestra t en otros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8107710" y="4127897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8241060" y="3632597"/>
            <a:ext cx="23703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1777 /tmp/compartido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137422"/>
            <a:ext cx="1554361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3" name="Shape 38"/>
          <p:cNvSpPr/>
          <p:nvPr/>
        </p:nvSpPr>
        <p:spPr>
          <a:xfrm>
            <a:off x="1524000" y="4708922"/>
            <a:ext cx="1554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4" name="Text 39"/>
          <p:cNvSpPr/>
          <p:nvPr/>
        </p:nvSpPr>
        <p:spPr>
          <a:xfrm>
            <a:off x="1657350" y="4213622"/>
            <a:ext cx="13638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Inmutable</a:t>
            </a:r>
            <a:endParaRPr lang="en-US" sz="1425" dirty="0"/>
          </a:p>
        </p:txBody>
      </p:sp>
      <p:sp>
        <p:nvSpPr>
          <p:cNvPr id="45" name="Shape 40"/>
          <p:cNvSpPr/>
          <p:nvPr/>
        </p:nvSpPr>
        <p:spPr>
          <a:xfrm>
            <a:off x="3078361" y="4137422"/>
            <a:ext cx="146298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6" name="Shape 41"/>
          <p:cNvSpPr/>
          <p:nvPr/>
        </p:nvSpPr>
        <p:spPr>
          <a:xfrm>
            <a:off x="3078361" y="4708922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3211711" y="4213622"/>
            <a:ext cx="1272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chattr +i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4541341" y="4137422"/>
            <a:ext cx="3566368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4541341" y="4708922"/>
            <a:ext cx="3566368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4674691" y="4213622"/>
            <a:ext cx="34066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no se puede borrar, alterar, renombrar ni enlazar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8107710" y="4137422"/>
            <a:ext cx="256029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8107710" y="4708922"/>
            <a:ext cx="25602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8241060" y="4213622"/>
            <a:ext cx="237039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chattr +i file1</a:t>
            </a:r>
            <a:endParaRPr lang="en-US" sz="1425" dirty="0"/>
          </a:p>
        </p:txBody>
      </p:sp>
      <p:sp>
        <p:nvSpPr>
          <p:cNvPr id="54" name="Text 49"/>
          <p:cNvSpPr/>
          <p:nvPr/>
        </p:nvSpPr>
        <p:spPr>
          <a:xfrm>
            <a:off x="1524000" y="4913709"/>
            <a:ext cx="100584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Auditoría: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-perm -u+s </a:t>
            </a:r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todos los archivos con SUID. El signo «-» retira el permiso: </a:t>
            </a:r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g-s</a:t>
            </a:r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55" name="Text 50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56" name="Text 5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SUID, SGID y sticky bit en detalle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1999059"/>
            <a:ext cx="2895600" cy="352618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1762125" y="2237184"/>
            <a:ext cx="266128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SUID</a:t>
            </a:r>
            <a:endParaRPr lang="en-US" sz="2025" dirty="0"/>
          </a:p>
        </p:txBody>
      </p:sp>
      <p:sp>
        <p:nvSpPr>
          <p:cNvPr id="8" name="Text 3"/>
          <p:cNvSpPr/>
          <p:nvPr/>
        </p:nvSpPr>
        <p:spPr>
          <a:xfrm>
            <a:off x="1762125" y="2679502"/>
            <a:ext cx="2495550" cy="770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binario se ejecuta con los privilegios del propietario, a menudo root.</a:t>
            </a:r>
            <a:endParaRPr lang="en-US" sz="1425" dirty="0"/>
          </a:p>
        </p:txBody>
      </p:sp>
      <p:sp>
        <p:nvSpPr>
          <p:cNvPr id="9" name="Text 4"/>
          <p:cNvSpPr/>
          <p:nvPr/>
        </p:nvSpPr>
        <p:spPr>
          <a:xfrm>
            <a:off x="1762125" y="3507432"/>
            <a:ext cx="2495550" cy="770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uso: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passwd modifica /etc/shadow, que pertenece a root.</a:t>
            </a:r>
            <a:endParaRPr lang="en-US" sz="1425" dirty="0"/>
          </a:p>
        </p:txBody>
      </p:sp>
      <p:sp>
        <p:nvSpPr>
          <p:cNvPr id="10" name="Text 5"/>
          <p:cNvSpPr/>
          <p:nvPr/>
        </p:nvSpPr>
        <p:spPr>
          <a:xfrm>
            <a:off x="1762125" y="4335363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u+s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quitar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u-s</a:t>
            </a:r>
            <a:endParaRPr lang="en-US" sz="1425" dirty="0"/>
          </a:p>
        </p:txBody>
      </p:sp>
      <p:sp>
        <p:nvSpPr>
          <p:cNvPr id="11" name="Text 6"/>
          <p:cNvSpPr/>
          <p:nvPr/>
        </p:nvSpPr>
        <p:spPr>
          <a:xfrm>
            <a:off x="1762125" y="4684365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4755</a:t>
            </a:r>
            <a:endParaRPr lang="en-US" sz="1425" dirty="0"/>
          </a:p>
        </p:txBody>
      </p:sp>
      <p:sp>
        <p:nvSpPr>
          <p:cNvPr id="12" name="Text 7"/>
          <p:cNvSpPr/>
          <p:nvPr/>
        </p:nvSpPr>
        <p:spPr>
          <a:xfrm>
            <a:off x="1762125" y="5033367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ls -l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rwsr-xr-x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4648200" y="1999059"/>
            <a:ext cx="2895600" cy="352618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886325" y="2237184"/>
            <a:ext cx="266128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SGID</a:t>
            </a:r>
            <a:endParaRPr lang="en-US" sz="2025" dirty="0"/>
          </a:p>
        </p:txBody>
      </p:sp>
      <p:sp>
        <p:nvSpPr>
          <p:cNvPr id="15" name="Text 10"/>
          <p:cNvSpPr/>
          <p:nvPr/>
        </p:nvSpPr>
        <p:spPr>
          <a:xfrm>
            <a:off x="4886325" y="2679502"/>
            <a:ext cx="2495550" cy="1015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archivos, corre con privilegios del grupo; en directorios, lo nuevo hereda el grupo padre.</a:t>
            </a:r>
            <a:endParaRPr lang="en-US" sz="1425" dirty="0"/>
          </a:p>
        </p:txBody>
      </p:sp>
      <p:sp>
        <p:nvSpPr>
          <p:cNvPr id="16" name="Text 11"/>
          <p:cNvSpPr/>
          <p:nvPr/>
        </p:nvSpPr>
        <p:spPr>
          <a:xfrm>
            <a:off x="4886325" y="3751659"/>
            <a:ext cx="2495550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uso: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carpetas colaborativas de un equipo.</a:t>
            </a:r>
            <a:endParaRPr lang="en-US" sz="1425" dirty="0"/>
          </a:p>
        </p:txBody>
      </p:sp>
      <p:sp>
        <p:nvSpPr>
          <p:cNvPr id="17" name="Text 12"/>
          <p:cNvSpPr/>
          <p:nvPr/>
        </p:nvSpPr>
        <p:spPr>
          <a:xfrm>
            <a:off x="4886325" y="4335363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g+s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quitar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g-s</a:t>
            </a:r>
            <a:endParaRPr lang="en-US" sz="1425" dirty="0"/>
          </a:p>
        </p:txBody>
      </p:sp>
      <p:sp>
        <p:nvSpPr>
          <p:cNvPr id="18" name="Text 13"/>
          <p:cNvSpPr/>
          <p:nvPr/>
        </p:nvSpPr>
        <p:spPr>
          <a:xfrm>
            <a:off x="4886325" y="4684365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2775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4886325" y="5033367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ls -l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rwxr-sr-x</a:t>
            </a:r>
            <a:endParaRPr lang="en-US" sz="1425" dirty="0"/>
          </a:p>
        </p:txBody>
      </p:sp>
      <p:sp>
        <p:nvSpPr>
          <p:cNvPr id="20" name="Shape 15"/>
          <p:cNvSpPr/>
          <p:nvPr/>
        </p:nvSpPr>
        <p:spPr>
          <a:xfrm>
            <a:off x="7772400" y="1999059"/>
            <a:ext cx="2895600" cy="352618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010525" y="2237184"/>
            <a:ext cx="266128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Sticky bit</a:t>
            </a:r>
            <a:endParaRPr lang="en-US" sz="2025" dirty="0"/>
          </a:p>
        </p:txBody>
      </p:sp>
      <p:sp>
        <p:nvSpPr>
          <p:cNvPr id="22" name="Text 17"/>
          <p:cNvSpPr/>
          <p:nvPr/>
        </p:nvSpPr>
        <p:spPr>
          <a:xfrm>
            <a:off x="8010525" y="2679502"/>
            <a:ext cx="2495550" cy="1015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directorios públicos, solo el dueño del archivo, el del directorio o root pueden borrarlo.</a:t>
            </a:r>
            <a:endParaRPr lang="en-US" sz="1425" dirty="0"/>
          </a:p>
        </p:txBody>
      </p:sp>
      <p:sp>
        <p:nvSpPr>
          <p:cNvPr id="23" name="Text 18"/>
          <p:cNvSpPr/>
          <p:nvPr/>
        </p:nvSpPr>
        <p:spPr>
          <a:xfrm>
            <a:off x="8010525" y="3751659"/>
            <a:ext cx="2495550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uso: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directorio /tmp.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8010525" y="4335363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o+t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quitar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o-t</a:t>
            </a:r>
            <a:endParaRPr lang="en-US" sz="1425" dirty="0"/>
          </a:p>
        </p:txBody>
      </p:sp>
      <p:sp>
        <p:nvSpPr>
          <p:cNvPr id="25" name="Text 20"/>
          <p:cNvSpPr/>
          <p:nvPr/>
        </p:nvSpPr>
        <p:spPr>
          <a:xfrm>
            <a:off x="8010525" y="4684365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1777</a:t>
            </a:r>
            <a:endParaRPr lang="en-US" sz="1425" dirty="0"/>
          </a:p>
        </p:txBody>
      </p:sp>
      <p:sp>
        <p:nvSpPr>
          <p:cNvPr id="26" name="Text 21"/>
          <p:cNvSpPr/>
          <p:nvPr/>
        </p:nvSpPr>
        <p:spPr>
          <a:xfrm>
            <a:off x="8010525" y="5033367"/>
            <a:ext cx="266128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ls -l </a:t>
            </a:r>
            <a:pPr algn="l" indent="0" marL="0">
              <a:lnSpc>
                <a:spcPct val="116591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rwxrwxrwt</a:t>
            </a:r>
            <a:endParaRPr lang="en-US" sz="1425" dirty="0"/>
          </a:p>
        </p:txBody>
      </p:sp>
      <p:sp>
        <p:nvSpPr>
          <p:cNvPr id="27" name="Text 22"/>
          <p:cNvSpPr/>
          <p:nvPr/>
        </p:nvSpPr>
        <p:spPr>
          <a:xfrm>
            <a:off x="1524000" y="6165205"/>
            <a:ext cx="3708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documento «Permisos especiales Linux».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Notación octal de 4 dígitos</a:t>
            </a:r>
            <a:endParaRPr lang="en-US" sz="4350" dirty="0"/>
          </a:p>
        </p:txBody>
      </p:sp>
      <p:sp>
        <p:nvSpPr>
          <p:cNvPr id="6" name="Text 1"/>
          <p:cNvSpPr/>
          <p:nvPr/>
        </p:nvSpPr>
        <p:spPr>
          <a:xfrm>
            <a:off x="1524000" y="1884759"/>
            <a:ext cx="94183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Sintaxis: </a:t>
            </a:r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ESPECIAL U G O archivo </a:t>
            </a:r>
            <a:pPr algn="l" indent="0" marL="0">
              <a:buNone/>
            </a:pPr>
            <a:r>
              <a:rPr lang="en-US" sz="18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primer dígito suma los permisos especiales activos.</a:t>
            </a:r>
            <a:endParaRPr lang="en-US" sz="1800" dirty="0"/>
          </a:p>
        </p:txBody>
      </p:sp>
      <p:sp>
        <p:nvSpPr>
          <p:cNvPr id="7" name="Shape 2"/>
          <p:cNvSpPr/>
          <p:nvPr/>
        </p:nvSpPr>
        <p:spPr>
          <a:xfrm>
            <a:off x="1524000" y="2684859"/>
            <a:ext cx="1280071" cy="39052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8" name="Text 3"/>
          <p:cNvSpPr/>
          <p:nvPr/>
        </p:nvSpPr>
        <p:spPr>
          <a:xfrm>
            <a:off x="1657350" y="2761059"/>
            <a:ext cx="108957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</a:t>
            </a:r>
            <a:endParaRPr lang="en-US" sz="1575" dirty="0"/>
          </a:p>
        </p:txBody>
      </p:sp>
      <p:sp>
        <p:nvSpPr>
          <p:cNvPr id="9" name="Shape 4"/>
          <p:cNvSpPr/>
          <p:nvPr/>
        </p:nvSpPr>
        <p:spPr>
          <a:xfrm>
            <a:off x="2804071" y="2684859"/>
            <a:ext cx="2377380" cy="39052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0" name="Text 5"/>
          <p:cNvSpPr/>
          <p:nvPr/>
        </p:nvSpPr>
        <p:spPr>
          <a:xfrm>
            <a:off x="2937421" y="2761059"/>
            <a:ext cx="21868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Permiso especial</a:t>
            </a:r>
            <a:endParaRPr lang="en-US" sz="1575" dirty="0"/>
          </a:p>
        </p:txBody>
      </p:sp>
      <p:sp>
        <p:nvSpPr>
          <p:cNvPr id="11" name="Shape 6"/>
          <p:cNvSpPr/>
          <p:nvPr/>
        </p:nvSpPr>
        <p:spPr>
          <a:xfrm>
            <a:off x="5181451" y="2684859"/>
            <a:ext cx="2194471" cy="39052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2" name="Text 7"/>
          <p:cNvSpPr/>
          <p:nvPr/>
        </p:nvSpPr>
        <p:spPr>
          <a:xfrm>
            <a:off x="5314801" y="2761059"/>
            <a:ext cx="200397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</a:t>
            </a:r>
            <a:endParaRPr lang="en-US" sz="1575" dirty="0"/>
          </a:p>
        </p:txBody>
      </p:sp>
      <p:sp>
        <p:nvSpPr>
          <p:cNvPr id="13" name="Shape 8"/>
          <p:cNvSpPr/>
          <p:nvPr/>
        </p:nvSpPr>
        <p:spPr>
          <a:xfrm>
            <a:off x="7375922" y="2684859"/>
            <a:ext cx="3292078" cy="39052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4" name="Text 9"/>
          <p:cNvSpPr/>
          <p:nvPr/>
        </p:nvSpPr>
        <p:spPr>
          <a:xfrm>
            <a:off x="7509272" y="2761059"/>
            <a:ext cx="31241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</a:t>
            </a:r>
            <a:endParaRPr lang="en-US" sz="1575" dirty="0"/>
          </a:p>
        </p:txBody>
      </p:sp>
      <p:sp>
        <p:nvSpPr>
          <p:cNvPr id="15" name="Shape 10"/>
          <p:cNvSpPr/>
          <p:nvPr/>
        </p:nvSpPr>
        <p:spPr>
          <a:xfrm>
            <a:off x="1524000" y="3451622"/>
            <a:ext cx="128007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57350" y="3151584"/>
            <a:ext cx="108957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2"/>
          <p:cNvSpPr/>
          <p:nvPr/>
        </p:nvSpPr>
        <p:spPr>
          <a:xfrm>
            <a:off x="2804071" y="345162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Text 13"/>
          <p:cNvSpPr/>
          <p:nvPr/>
        </p:nvSpPr>
        <p:spPr>
          <a:xfrm>
            <a:off x="2937421" y="3151584"/>
            <a:ext cx="218688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SUID</a:t>
            </a:r>
            <a:endParaRPr lang="en-US" sz="1575" dirty="0"/>
          </a:p>
        </p:txBody>
      </p:sp>
      <p:sp>
        <p:nvSpPr>
          <p:cNvPr id="19" name="Shape 14"/>
          <p:cNvSpPr/>
          <p:nvPr/>
        </p:nvSpPr>
        <p:spPr>
          <a:xfrm>
            <a:off x="5181451" y="3451622"/>
            <a:ext cx="219447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5314801" y="3151584"/>
            <a:ext cx="200397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4755</a:t>
            </a:r>
            <a:endParaRPr lang="en-US" sz="1575" dirty="0"/>
          </a:p>
        </p:txBody>
      </p:sp>
      <p:sp>
        <p:nvSpPr>
          <p:cNvPr id="21" name="Shape 16"/>
          <p:cNvSpPr/>
          <p:nvPr/>
        </p:nvSpPr>
        <p:spPr>
          <a:xfrm>
            <a:off x="7375922" y="3451622"/>
            <a:ext cx="3292078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2" name="Text 17"/>
          <p:cNvSpPr/>
          <p:nvPr/>
        </p:nvSpPr>
        <p:spPr>
          <a:xfrm>
            <a:off x="7509272" y="3151584"/>
            <a:ext cx="31241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SUID + rwxr-xr-x</a:t>
            </a:r>
            <a:endParaRPr lang="en-US" sz="1575" dirty="0"/>
          </a:p>
        </p:txBody>
      </p:sp>
      <p:sp>
        <p:nvSpPr>
          <p:cNvPr id="23" name="Shape 18"/>
          <p:cNvSpPr/>
          <p:nvPr/>
        </p:nvSpPr>
        <p:spPr>
          <a:xfrm>
            <a:off x="1524000" y="3461147"/>
            <a:ext cx="1280071" cy="3905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4" name="Shape 19"/>
          <p:cNvSpPr/>
          <p:nvPr/>
        </p:nvSpPr>
        <p:spPr>
          <a:xfrm>
            <a:off x="1524000" y="3842147"/>
            <a:ext cx="128007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5" name="Text 20"/>
          <p:cNvSpPr/>
          <p:nvPr/>
        </p:nvSpPr>
        <p:spPr>
          <a:xfrm>
            <a:off x="1657350" y="3537347"/>
            <a:ext cx="10895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75" dirty="0"/>
          </a:p>
        </p:txBody>
      </p:sp>
      <p:sp>
        <p:nvSpPr>
          <p:cNvPr id="26" name="Shape 21"/>
          <p:cNvSpPr/>
          <p:nvPr/>
        </p:nvSpPr>
        <p:spPr>
          <a:xfrm>
            <a:off x="2804071" y="3461147"/>
            <a:ext cx="2377380" cy="3905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7" name="Shape 22"/>
          <p:cNvSpPr/>
          <p:nvPr/>
        </p:nvSpPr>
        <p:spPr>
          <a:xfrm>
            <a:off x="2804071" y="3842147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2937421" y="3537347"/>
            <a:ext cx="21868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SGID</a:t>
            </a:r>
            <a:endParaRPr lang="en-US" sz="1575" dirty="0"/>
          </a:p>
        </p:txBody>
      </p:sp>
      <p:sp>
        <p:nvSpPr>
          <p:cNvPr id="29" name="Shape 24"/>
          <p:cNvSpPr/>
          <p:nvPr/>
        </p:nvSpPr>
        <p:spPr>
          <a:xfrm>
            <a:off x="5181451" y="3461147"/>
            <a:ext cx="2194471" cy="3905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0" name="Shape 25"/>
          <p:cNvSpPr/>
          <p:nvPr/>
        </p:nvSpPr>
        <p:spPr>
          <a:xfrm>
            <a:off x="5181451" y="3842147"/>
            <a:ext cx="219447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5314801" y="3537347"/>
            <a:ext cx="20039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2775</a:t>
            </a:r>
            <a:endParaRPr lang="en-US" sz="1575" dirty="0"/>
          </a:p>
        </p:txBody>
      </p:sp>
      <p:sp>
        <p:nvSpPr>
          <p:cNvPr id="32" name="Shape 27"/>
          <p:cNvSpPr/>
          <p:nvPr/>
        </p:nvSpPr>
        <p:spPr>
          <a:xfrm>
            <a:off x="7375922" y="3461147"/>
            <a:ext cx="3292078" cy="3905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3" name="Shape 28"/>
          <p:cNvSpPr/>
          <p:nvPr/>
        </p:nvSpPr>
        <p:spPr>
          <a:xfrm>
            <a:off x="7375922" y="3842147"/>
            <a:ext cx="3292078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4" name="Text 29"/>
          <p:cNvSpPr/>
          <p:nvPr/>
        </p:nvSpPr>
        <p:spPr>
          <a:xfrm>
            <a:off x="7509272" y="3537347"/>
            <a:ext cx="31241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SGID + rwxrwxr-x</a:t>
            </a:r>
            <a:endParaRPr lang="en-US" sz="1575" dirty="0"/>
          </a:p>
        </p:txBody>
      </p:sp>
      <p:sp>
        <p:nvSpPr>
          <p:cNvPr id="35" name="Shape 30"/>
          <p:cNvSpPr/>
          <p:nvPr/>
        </p:nvSpPr>
        <p:spPr>
          <a:xfrm>
            <a:off x="1524000" y="4232672"/>
            <a:ext cx="128007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57350" y="3927872"/>
            <a:ext cx="10895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75" dirty="0"/>
          </a:p>
        </p:txBody>
      </p:sp>
      <p:sp>
        <p:nvSpPr>
          <p:cNvPr id="37" name="Shape 32"/>
          <p:cNvSpPr/>
          <p:nvPr/>
        </p:nvSpPr>
        <p:spPr>
          <a:xfrm>
            <a:off x="2804071" y="4232672"/>
            <a:ext cx="23773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2937421" y="3927872"/>
            <a:ext cx="21868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bit</a:t>
            </a:r>
            <a:endParaRPr lang="en-US" sz="1575" dirty="0"/>
          </a:p>
        </p:txBody>
      </p:sp>
      <p:sp>
        <p:nvSpPr>
          <p:cNvPr id="39" name="Shape 34"/>
          <p:cNvSpPr/>
          <p:nvPr/>
        </p:nvSpPr>
        <p:spPr>
          <a:xfrm>
            <a:off x="5181451" y="4232672"/>
            <a:ext cx="219447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0" name="Text 35"/>
          <p:cNvSpPr/>
          <p:nvPr/>
        </p:nvSpPr>
        <p:spPr>
          <a:xfrm>
            <a:off x="5314801" y="3927872"/>
            <a:ext cx="20039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1777</a:t>
            </a:r>
            <a:endParaRPr lang="en-US" sz="1575" dirty="0"/>
          </a:p>
        </p:txBody>
      </p:sp>
      <p:sp>
        <p:nvSpPr>
          <p:cNvPr id="41" name="Shape 36"/>
          <p:cNvSpPr/>
          <p:nvPr/>
        </p:nvSpPr>
        <p:spPr>
          <a:xfrm>
            <a:off x="7375922" y="4232672"/>
            <a:ext cx="3292078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2" name="Text 37"/>
          <p:cNvSpPr/>
          <p:nvPr/>
        </p:nvSpPr>
        <p:spPr>
          <a:xfrm>
            <a:off x="7509272" y="3927872"/>
            <a:ext cx="31241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+ rwxrwxrwx</a:t>
            </a:r>
            <a:endParaRPr lang="en-US" sz="1575" dirty="0"/>
          </a:p>
        </p:txBody>
      </p:sp>
      <p:sp>
        <p:nvSpPr>
          <p:cNvPr id="43" name="Shape 38"/>
          <p:cNvSpPr/>
          <p:nvPr/>
        </p:nvSpPr>
        <p:spPr>
          <a:xfrm>
            <a:off x="1524000" y="4551759"/>
            <a:ext cx="9144000" cy="914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4" name="Shape 39"/>
          <p:cNvSpPr/>
          <p:nvPr/>
        </p:nvSpPr>
        <p:spPr>
          <a:xfrm>
            <a:off x="1524000" y="4551759"/>
            <a:ext cx="57150" cy="91440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5" name="Text 40"/>
          <p:cNvSpPr/>
          <p:nvPr/>
        </p:nvSpPr>
        <p:spPr>
          <a:xfrm>
            <a:off x="1847850" y="4742259"/>
            <a:ext cx="88277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F2A33"/>
                </a:solidFill>
                <a:highlight>
                  <a:srgbClr val="F8F8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Una </a:t>
            </a:r>
            <a:pPr algn="l" indent="0" marL="0">
              <a:buNone/>
            </a:pPr>
            <a:r>
              <a:rPr lang="en-US" sz="1800" i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pPr algn="l" indent="0" marL="0">
              <a:buNone/>
            </a:pPr>
            <a:r>
              <a:rPr lang="en-US" sz="1800" i="1" dirty="0">
                <a:solidFill>
                  <a:srgbClr val="1F2A33"/>
                </a:solidFill>
                <a:highlight>
                  <a:srgbClr val="F8F8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buNone/>
            </a:pPr>
            <a:r>
              <a:rPr lang="en-US" sz="1800" i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</a:t>
            </a:r>
            <a:pPr algn="l" indent="0" marL="0">
              <a:buNone/>
            </a:pPr>
            <a:r>
              <a:rPr lang="en-US" sz="1800" i="1" dirty="0">
                <a:solidFill>
                  <a:srgbClr val="1F2A33"/>
                </a:solidFill>
                <a:highlight>
                  <a:srgbClr val="F8F8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en mayúscula en ls -l indica que el permiso especial está activo, pero falta el permiso de ejecución x subyacente.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1524000" y="6165205"/>
            <a:ext cx="37088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documento «Permisos especiales Linux».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746772"/>
            <a:ext cx="3038773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861072"/>
            <a:ext cx="25203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 DE ESTUDIO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499247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Configurar el servidor del laboratorio del semillero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Planteamiento del caso</a:t>
            </a:r>
            <a:endParaRPr lang="en-US" sz="4350" dirty="0"/>
          </a:p>
        </p:txBody>
      </p:sp>
      <p:sp>
        <p:nvSpPr>
          <p:cNvPr id="6" name="Text 1"/>
          <p:cNvSpPr/>
          <p:nvPr/>
        </p:nvSpPr>
        <p:spPr>
          <a:xfrm>
            <a:off x="1524000" y="1884759"/>
            <a:ext cx="680942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semillero recibe un servidor Linux y necesita un espacio de trabajo compartido, ordenado y seguro en </a:t>
            </a:r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/srv/semillero</a:t>
            </a:r>
            <a:pPr algn="l" indent="0" marL="0"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2"/>
          <p:cNvSpPr/>
          <p:nvPr/>
        </p:nvSpPr>
        <p:spPr>
          <a:xfrm>
            <a:off x="1524000" y="2722959"/>
            <a:ext cx="2895600" cy="2830711"/>
          </a:xfrm>
          <a:prstGeom prst="roundRect">
            <a:avLst>
              <a:gd name="adj" fmla="val 4038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1762125" y="2961084"/>
            <a:ext cx="266128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88"/>
              </a:lnSpc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Equipo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762125" y="3448645"/>
            <a:ext cx="2495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coordinadora, grupo devs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762125" y="3982045"/>
            <a:ext cx="2495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desarrollador, grupo devs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762125" y="4515445"/>
            <a:ext cx="2495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</a:t>
            </a:r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practicante, grupo revisores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648200" y="2722959"/>
            <a:ext cx="2895600" cy="2830711"/>
          </a:xfrm>
          <a:prstGeom prst="roundRect">
            <a:avLst>
              <a:gd name="adj" fmla="val 4038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886325" y="2961084"/>
            <a:ext cx="266128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88"/>
              </a:lnSpc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Estructura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4886325" y="3448645"/>
            <a:ext cx="2661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codigo/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886325" y="3715345"/>
            <a:ext cx="2661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886325" y="3982045"/>
            <a:ext cx="2661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entregas/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86325" y="4248745"/>
            <a:ext cx="2661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actas/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772400" y="2722959"/>
            <a:ext cx="2895600" cy="2830711"/>
          </a:xfrm>
          <a:prstGeom prst="roundRect">
            <a:avLst>
              <a:gd name="adj" fmla="val 4038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010525" y="2961084"/>
            <a:ext cx="266128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88"/>
              </a:lnSpc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Reglas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010525" y="3448645"/>
            <a:ext cx="2495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editable solo por devs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010525" y="3982045"/>
            <a:ext cx="2495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visibles para todos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010525" y="4515445"/>
            <a:ext cx="2661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borra entregas ajenas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010525" y="4782145"/>
            <a:ext cx="2495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Actas privadas de la coordinadora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1991767" cy="257175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18012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 de estudio · paso 1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96169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Crear usuarios y grupos</a:t>
            </a:r>
            <a:endParaRPr lang="en-US" sz="4350" dirty="0"/>
          </a:p>
        </p:txBody>
      </p:sp>
      <p:sp>
        <p:nvSpPr>
          <p:cNvPr id="8" name="Shape 3"/>
          <p:cNvSpPr/>
          <p:nvPr/>
        </p:nvSpPr>
        <p:spPr>
          <a:xfrm>
            <a:off x="1524000" y="2370534"/>
            <a:ext cx="9144000" cy="3238500"/>
          </a:xfrm>
          <a:prstGeom prst="roundRect">
            <a:avLst>
              <a:gd name="adj" fmla="val 3529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800225" y="260865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groupadd devs</a:t>
            </a:r>
            <a:endParaRPr lang="en-US" sz="1425" dirty="0"/>
          </a:p>
        </p:txBody>
      </p:sp>
      <p:sp>
        <p:nvSpPr>
          <p:cNvPr id="10" name="Text 5"/>
          <p:cNvSpPr/>
          <p:nvPr/>
        </p:nvSpPr>
        <p:spPr>
          <a:xfrm>
            <a:off x="7577584" y="2608659"/>
            <a:ext cx="3095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del equipo de desarrollo</a:t>
            </a:r>
            <a:endParaRPr lang="en-US" sz="1425" dirty="0"/>
          </a:p>
        </p:txBody>
      </p:sp>
      <p:sp>
        <p:nvSpPr>
          <p:cNvPr id="11" name="Text 6"/>
          <p:cNvSpPr/>
          <p:nvPr/>
        </p:nvSpPr>
        <p:spPr>
          <a:xfrm>
            <a:off x="1800225" y="291345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groupadd revisores</a:t>
            </a:r>
            <a:endParaRPr lang="en-US" sz="1425" dirty="0"/>
          </a:p>
        </p:txBody>
      </p:sp>
      <p:sp>
        <p:nvSpPr>
          <p:cNvPr id="12" name="Text 7"/>
          <p:cNvSpPr/>
          <p:nvPr/>
        </p:nvSpPr>
        <p:spPr>
          <a:xfrm>
            <a:off x="7577584" y="2913459"/>
            <a:ext cx="28986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de quienes revisan entregas</a:t>
            </a:r>
            <a:endParaRPr lang="en-US" sz="1425" dirty="0"/>
          </a:p>
        </p:txBody>
      </p:sp>
      <p:sp>
        <p:nvSpPr>
          <p:cNvPr id="13" name="Text 8"/>
          <p:cNvSpPr/>
          <p:nvPr/>
        </p:nvSpPr>
        <p:spPr>
          <a:xfrm>
            <a:off x="1800225" y="342780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-m -c "Ana Rojas" -g devs -s /bin/bash ana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7577584" y="3427809"/>
            <a:ext cx="3095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Coordinadora con home y shell</a:t>
            </a:r>
            <a:endParaRPr lang="en-US" sz="1425" dirty="0"/>
          </a:p>
        </p:txBody>
      </p:sp>
      <p:sp>
        <p:nvSpPr>
          <p:cNvPr id="15" name="Text 10"/>
          <p:cNvSpPr/>
          <p:nvPr/>
        </p:nvSpPr>
        <p:spPr>
          <a:xfrm>
            <a:off x="1800225" y="373260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-m -g devs carlos</a:t>
            </a:r>
            <a:endParaRPr lang="en-US" sz="1425" dirty="0"/>
          </a:p>
        </p:txBody>
      </p:sp>
      <p:sp>
        <p:nvSpPr>
          <p:cNvPr id="16" name="Text 11"/>
          <p:cNvSpPr/>
          <p:nvPr/>
        </p:nvSpPr>
        <p:spPr>
          <a:xfrm>
            <a:off x="7577584" y="3732609"/>
            <a:ext cx="3095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425" dirty="0"/>
          </a:p>
        </p:txBody>
      </p:sp>
      <p:sp>
        <p:nvSpPr>
          <p:cNvPr id="17" name="Text 12"/>
          <p:cNvSpPr/>
          <p:nvPr/>
        </p:nvSpPr>
        <p:spPr>
          <a:xfrm>
            <a:off x="1800225" y="403740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-m -g revisores luis</a:t>
            </a:r>
            <a:endParaRPr lang="en-US" sz="1425" dirty="0"/>
          </a:p>
        </p:txBody>
      </p:sp>
      <p:sp>
        <p:nvSpPr>
          <p:cNvPr id="18" name="Text 13"/>
          <p:cNvSpPr/>
          <p:nvPr/>
        </p:nvSpPr>
        <p:spPr>
          <a:xfrm>
            <a:off x="7577584" y="4037409"/>
            <a:ext cx="3095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Practicante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1800225" y="434220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passwd ana</a:t>
            </a:r>
            <a:endParaRPr lang="en-US" sz="1425" dirty="0"/>
          </a:p>
        </p:txBody>
      </p:sp>
      <p:sp>
        <p:nvSpPr>
          <p:cNvPr id="20" name="Text 15"/>
          <p:cNvSpPr/>
          <p:nvPr/>
        </p:nvSpPr>
        <p:spPr>
          <a:xfrm>
            <a:off x="7577584" y="4342209"/>
            <a:ext cx="28986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contraseña (repetir por usuario)</a:t>
            </a:r>
            <a:endParaRPr lang="en-US" sz="1425" dirty="0"/>
          </a:p>
        </p:txBody>
      </p:sp>
      <p:sp>
        <p:nvSpPr>
          <p:cNvPr id="21" name="Text 16"/>
          <p:cNvSpPr/>
          <p:nvPr/>
        </p:nvSpPr>
        <p:spPr>
          <a:xfrm>
            <a:off x="1800225" y="485655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chage -E 2026-12-31 luis</a:t>
            </a:r>
            <a:endParaRPr lang="en-US" sz="1425" dirty="0"/>
          </a:p>
        </p:txBody>
      </p:sp>
      <p:sp>
        <p:nvSpPr>
          <p:cNvPr id="22" name="Text 17"/>
          <p:cNvSpPr/>
          <p:nvPr/>
        </p:nvSpPr>
        <p:spPr>
          <a:xfrm>
            <a:off x="7577584" y="4856559"/>
            <a:ext cx="3095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cuenta del practicante caduca</a:t>
            </a:r>
            <a:endParaRPr lang="en-US" sz="1425" dirty="0"/>
          </a:p>
        </p:txBody>
      </p:sp>
      <p:sp>
        <p:nvSpPr>
          <p:cNvPr id="23" name="Text 18"/>
          <p:cNvSpPr/>
          <p:nvPr/>
        </p:nvSpPr>
        <p:spPr>
          <a:xfrm>
            <a:off x="1800225" y="5161359"/>
            <a:ext cx="60198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pwck ; sudo grpck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7577584" y="5161359"/>
            <a:ext cx="3095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/etc/passwd y /etc/group</a:t>
            </a:r>
            <a:endParaRPr lang="en-US" sz="1425" dirty="0"/>
          </a:p>
        </p:txBody>
      </p:sp>
      <p:sp>
        <p:nvSpPr>
          <p:cNvPr id="25" name="Text 20"/>
          <p:cNvSpPr/>
          <p:nvPr/>
        </p:nvSpPr>
        <p:spPr>
          <a:xfrm>
            <a:off x="1524000" y="5761434"/>
            <a:ext cx="100584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opción -m de useradd crea el directorio home si no existe.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2003673" cy="257175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18131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 de estudio · paso 2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96169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Construir directorios y archivos</a:t>
            </a:r>
            <a:endParaRPr lang="en-US" sz="4350" dirty="0"/>
          </a:p>
        </p:txBody>
      </p:sp>
      <p:sp>
        <p:nvSpPr>
          <p:cNvPr id="8" name="Shape 3"/>
          <p:cNvSpPr/>
          <p:nvPr/>
        </p:nvSpPr>
        <p:spPr>
          <a:xfrm>
            <a:off x="1524000" y="2370534"/>
            <a:ext cx="9144000" cy="2819400"/>
          </a:xfrm>
          <a:prstGeom prst="roundRect">
            <a:avLst>
              <a:gd name="adj" fmla="val 4054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800225" y="26086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-p /srv/semillero</a:t>
            </a:r>
            <a:endParaRPr lang="en-US" sz="1425" dirty="0"/>
          </a:p>
        </p:txBody>
      </p:sp>
      <p:sp>
        <p:nvSpPr>
          <p:cNvPr id="10" name="Text 5"/>
          <p:cNvSpPr/>
          <p:nvPr/>
        </p:nvSpPr>
        <p:spPr>
          <a:xfrm>
            <a:off x="7478167" y="26086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la ruta con sus padres</a:t>
            </a:r>
            <a:endParaRPr lang="en-US" sz="1425" dirty="0"/>
          </a:p>
        </p:txBody>
      </p:sp>
      <p:sp>
        <p:nvSpPr>
          <p:cNvPr id="11" name="Text 6"/>
          <p:cNvSpPr/>
          <p:nvPr/>
        </p:nvSpPr>
        <p:spPr>
          <a:xfrm>
            <a:off x="1800225" y="29134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/srv/semillero ; pwd</a:t>
            </a:r>
            <a:endParaRPr lang="en-US" sz="1425" dirty="0"/>
          </a:p>
        </p:txBody>
      </p:sp>
      <p:sp>
        <p:nvSpPr>
          <p:cNvPr id="12" name="Text 7"/>
          <p:cNvSpPr/>
          <p:nvPr/>
        </p:nvSpPr>
        <p:spPr>
          <a:xfrm>
            <a:off x="7478167" y="29134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y confirma la ubicación</a:t>
            </a:r>
            <a:endParaRPr lang="en-US" sz="1425" dirty="0"/>
          </a:p>
        </p:txBody>
      </p:sp>
      <p:sp>
        <p:nvSpPr>
          <p:cNvPr id="13" name="Text 8"/>
          <p:cNvSpPr/>
          <p:nvPr/>
        </p:nvSpPr>
        <p:spPr>
          <a:xfrm>
            <a:off x="1800225" y="32182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codigo docs entregas "actas de reunion"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7478167" y="32182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carpetas a la vez</a:t>
            </a:r>
            <a:endParaRPr lang="en-US" sz="1425" dirty="0"/>
          </a:p>
        </p:txBody>
      </p:sp>
      <p:sp>
        <p:nvSpPr>
          <p:cNvPr id="15" name="Text 10"/>
          <p:cNvSpPr/>
          <p:nvPr/>
        </p:nvSpPr>
        <p:spPr>
          <a:xfrm>
            <a:off x="1800225" y="35230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mv "actas de reunion" actas</a:t>
            </a:r>
            <a:endParaRPr lang="en-US" sz="1425" dirty="0"/>
          </a:p>
        </p:txBody>
      </p:sp>
      <p:sp>
        <p:nvSpPr>
          <p:cNvPr id="16" name="Text 11"/>
          <p:cNvSpPr/>
          <p:nvPr/>
        </p:nvSpPr>
        <p:spPr>
          <a:xfrm>
            <a:off x="7478167" y="35230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Renombra para evitar espacios</a:t>
            </a:r>
            <a:endParaRPr lang="en-US" sz="1425" dirty="0"/>
          </a:p>
        </p:txBody>
      </p:sp>
      <p:sp>
        <p:nvSpPr>
          <p:cNvPr id="17" name="Text 12"/>
          <p:cNvSpPr/>
          <p:nvPr/>
        </p:nvSpPr>
        <p:spPr>
          <a:xfrm>
            <a:off x="1800225" y="38278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touch docs/README.txt codigo/main.py</a:t>
            </a:r>
            <a:endParaRPr lang="en-US" sz="1425" dirty="0"/>
          </a:p>
        </p:txBody>
      </p:sp>
      <p:sp>
        <p:nvSpPr>
          <p:cNvPr id="18" name="Text 13"/>
          <p:cNvSpPr/>
          <p:nvPr/>
        </p:nvSpPr>
        <p:spPr>
          <a:xfrm>
            <a:off x="7478167" y="38278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iniciales vacíos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1800225" y="41326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cp docs/README.txt docs/GUIA.txt</a:t>
            </a:r>
            <a:endParaRPr lang="en-US" sz="1425" dirty="0"/>
          </a:p>
        </p:txBody>
      </p:sp>
      <p:sp>
        <p:nvSpPr>
          <p:cNvPr id="20" name="Text 15"/>
          <p:cNvSpPr/>
          <p:nvPr/>
        </p:nvSpPr>
        <p:spPr>
          <a:xfrm>
            <a:off x="7478167" y="41326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base para la guía</a:t>
            </a:r>
            <a:endParaRPr lang="en-US" sz="1425" dirty="0"/>
          </a:p>
        </p:txBody>
      </p:sp>
      <p:sp>
        <p:nvSpPr>
          <p:cNvPr id="21" name="Text 16"/>
          <p:cNvSpPr/>
          <p:nvPr/>
        </p:nvSpPr>
        <p:spPr>
          <a:xfrm>
            <a:off x="1800225" y="44374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ln -s /srv/semillero/entregas /home/luis/entregas</a:t>
            </a:r>
            <a:endParaRPr lang="en-US" sz="1425" dirty="0"/>
          </a:p>
        </p:txBody>
      </p:sp>
      <p:sp>
        <p:nvSpPr>
          <p:cNvPr id="22" name="Text 17"/>
          <p:cNvSpPr/>
          <p:nvPr/>
        </p:nvSpPr>
        <p:spPr>
          <a:xfrm>
            <a:off x="7478167" y="44374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directo en el home de luis</a:t>
            </a:r>
            <a:endParaRPr lang="en-US" sz="1425" dirty="0"/>
          </a:p>
        </p:txBody>
      </p:sp>
      <p:sp>
        <p:nvSpPr>
          <p:cNvPr id="23" name="Text 18"/>
          <p:cNvSpPr/>
          <p:nvPr/>
        </p:nvSpPr>
        <p:spPr>
          <a:xfrm>
            <a:off x="1800225" y="4742259"/>
            <a:ext cx="59104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/srv/semillero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7478167" y="4742259"/>
            <a:ext cx="32049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el árbol resultante</a:t>
            </a:r>
            <a:endParaRPr lang="en-US" sz="1425" dirty="0"/>
          </a:p>
        </p:txBody>
      </p:sp>
      <p:sp>
        <p:nvSpPr>
          <p:cNvPr id="25" name="Text 2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2003673" cy="257175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18131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 de estudio · paso 3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96169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Asignar propiedad y permisos</a:t>
            </a:r>
            <a:endParaRPr lang="en-US" sz="4350" dirty="0"/>
          </a:p>
        </p:txBody>
      </p:sp>
      <p:sp>
        <p:nvSpPr>
          <p:cNvPr id="8" name="Shape 3"/>
          <p:cNvSpPr/>
          <p:nvPr/>
        </p:nvSpPr>
        <p:spPr>
          <a:xfrm>
            <a:off x="1524000" y="2370534"/>
            <a:ext cx="9144000" cy="3028950"/>
          </a:xfrm>
          <a:prstGeom prst="roundRect">
            <a:avLst>
              <a:gd name="adj" fmla="val 3774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800225" y="26086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-R ana:devs /srv/semillero</a:t>
            </a:r>
            <a:endParaRPr lang="en-US" sz="1425" dirty="0"/>
          </a:p>
        </p:txBody>
      </p:sp>
      <p:sp>
        <p:nvSpPr>
          <p:cNvPr id="10" name="Text 5"/>
          <p:cNvSpPr/>
          <p:nvPr/>
        </p:nvSpPr>
        <p:spPr>
          <a:xfrm>
            <a:off x="6483102" y="2608659"/>
            <a:ext cx="429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es dueña; devs, el grupo</a:t>
            </a:r>
            <a:endParaRPr lang="en-US" sz="1425" dirty="0"/>
          </a:p>
        </p:txBody>
      </p:sp>
      <p:sp>
        <p:nvSpPr>
          <p:cNvPr id="11" name="Text 6"/>
          <p:cNvSpPr/>
          <p:nvPr/>
        </p:nvSpPr>
        <p:spPr>
          <a:xfrm>
            <a:off x="1800225" y="29134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chmod -R 755 /srv/semillero</a:t>
            </a:r>
            <a:endParaRPr lang="en-US" sz="1425" dirty="0"/>
          </a:p>
        </p:txBody>
      </p:sp>
      <p:sp>
        <p:nvSpPr>
          <p:cNvPr id="12" name="Text 7"/>
          <p:cNvSpPr/>
          <p:nvPr/>
        </p:nvSpPr>
        <p:spPr>
          <a:xfrm>
            <a:off x="6483102" y="2913459"/>
            <a:ext cx="429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lectura para todos</a:t>
            </a:r>
            <a:endParaRPr lang="en-US" sz="1425" dirty="0"/>
          </a:p>
        </p:txBody>
      </p:sp>
      <p:sp>
        <p:nvSpPr>
          <p:cNvPr id="13" name="Text 8"/>
          <p:cNvSpPr/>
          <p:nvPr/>
        </p:nvSpPr>
        <p:spPr>
          <a:xfrm>
            <a:off x="1800225" y="32182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chmod 2775 codigo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6483102" y="3218259"/>
            <a:ext cx="429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SGID: lo nuevo hereda el grupo devs</a:t>
            </a:r>
            <a:endParaRPr lang="en-US" sz="1425" dirty="0"/>
          </a:p>
        </p:txBody>
      </p:sp>
      <p:sp>
        <p:nvSpPr>
          <p:cNvPr id="15" name="Text 10"/>
          <p:cNvSpPr/>
          <p:nvPr/>
        </p:nvSpPr>
        <p:spPr>
          <a:xfrm>
            <a:off x="1800225" y="35230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chgrp revisores entregas</a:t>
            </a:r>
            <a:endParaRPr lang="en-US" sz="1425" dirty="0"/>
          </a:p>
        </p:txBody>
      </p:sp>
      <p:sp>
        <p:nvSpPr>
          <p:cNvPr id="16" name="Text 11"/>
          <p:cNvSpPr/>
          <p:nvPr/>
        </p:nvSpPr>
        <p:spPr>
          <a:xfrm>
            <a:off x="6483102" y="3523059"/>
            <a:ext cx="429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entregas pasan a revisores</a:t>
            </a:r>
            <a:endParaRPr lang="en-US" sz="1425" dirty="0"/>
          </a:p>
        </p:txBody>
      </p:sp>
      <p:sp>
        <p:nvSpPr>
          <p:cNvPr id="17" name="Text 12"/>
          <p:cNvSpPr/>
          <p:nvPr/>
        </p:nvSpPr>
        <p:spPr>
          <a:xfrm>
            <a:off x="1800225" y="38278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chmod 1777 entregas</a:t>
            </a:r>
            <a:endParaRPr lang="en-US" sz="1425" dirty="0"/>
          </a:p>
        </p:txBody>
      </p:sp>
      <p:sp>
        <p:nvSpPr>
          <p:cNvPr id="18" name="Text 13"/>
          <p:cNvSpPr/>
          <p:nvPr/>
        </p:nvSpPr>
        <p:spPr>
          <a:xfrm>
            <a:off x="6483102" y="3827859"/>
            <a:ext cx="429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bit: cada quien borra solo lo suyo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1800225" y="41326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chmod go-rwx actas</a:t>
            </a:r>
            <a:endParaRPr lang="en-US" sz="1425" dirty="0"/>
          </a:p>
        </p:txBody>
      </p:sp>
      <p:sp>
        <p:nvSpPr>
          <p:cNvPr id="20" name="Text 15"/>
          <p:cNvSpPr/>
          <p:nvPr/>
        </p:nvSpPr>
        <p:spPr>
          <a:xfrm>
            <a:off x="6483102" y="4132659"/>
            <a:ext cx="429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Actas privadas: queda en 700</a:t>
            </a:r>
            <a:endParaRPr lang="en-US" sz="1425" dirty="0"/>
          </a:p>
        </p:txBody>
      </p:sp>
      <p:sp>
        <p:nvSpPr>
          <p:cNvPr id="21" name="Text 16"/>
          <p:cNvSpPr/>
          <p:nvPr/>
        </p:nvSpPr>
        <p:spPr>
          <a:xfrm>
            <a:off x="1800225" y="44374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chmod 644 docs/README.txt docs/GUIA.txt</a:t>
            </a:r>
            <a:endParaRPr lang="en-US" sz="1425" dirty="0"/>
          </a:p>
        </p:txBody>
      </p:sp>
      <p:sp>
        <p:nvSpPr>
          <p:cNvPr id="22" name="Text 17"/>
          <p:cNvSpPr/>
          <p:nvPr/>
        </p:nvSpPr>
        <p:spPr>
          <a:xfrm>
            <a:off x="6483102" y="4437459"/>
            <a:ext cx="42995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de solo lectura</a:t>
            </a:r>
            <a:endParaRPr lang="en-US" sz="1425" dirty="0"/>
          </a:p>
        </p:txBody>
      </p:sp>
      <p:sp>
        <p:nvSpPr>
          <p:cNvPr id="23" name="Text 18"/>
          <p:cNvSpPr/>
          <p:nvPr/>
        </p:nvSpPr>
        <p:spPr>
          <a:xfrm>
            <a:off x="1800225" y="4742259"/>
            <a:ext cx="48158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umask 002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6483102" y="4742259"/>
            <a:ext cx="40259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sesión de devs: archivos 664, carpetas 775</a:t>
            </a:r>
            <a:endParaRPr lang="en-US" sz="1425" dirty="0"/>
          </a:p>
        </p:txBody>
      </p:sp>
      <p:sp>
        <p:nvSpPr>
          <p:cNvPr id="25" name="Text 2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2005905" cy="257175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18154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 de estudio · paso 4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96169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Verificar y mantener</a:t>
            </a:r>
            <a:endParaRPr lang="en-US" sz="4350" dirty="0"/>
          </a:p>
        </p:txBody>
      </p:sp>
      <p:sp>
        <p:nvSpPr>
          <p:cNvPr id="8" name="Shape 3"/>
          <p:cNvSpPr/>
          <p:nvPr/>
        </p:nvSpPr>
        <p:spPr>
          <a:xfrm>
            <a:off x="1524000" y="2370534"/>
            <a:ext cx="9144000" cy="3238500"/>
          </a:xfrm>
          <a:prstGeom prst="roundRect">
            <a:avLst>
              <a:gd name="adj" fmla="val 3529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800225" y="260865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/srv/semillero</a:t>
            </a:r>
            <a:endParaRPr lang="en-US" sz="1425" dirty="0"/>
          </a:p>
        </p:txBody>
      </p:sp>
      <p:sp>
        <p:nvSpPr>
          <p:cNvPr id="10" name="Text 5"/>
          <p:cNvSpPr/>
          <p:nvPr/>
        </p:nvSpPr>
        <p:spPr>
          <a:xfrm>
            <a:off x="7080200" y="2608659"/>
            <a:ext cx="3642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dueños, grupos y permisos</a:t>
            </a:r>
            <a:endParaRPr lang="en-US" sz="1425" dirty="0"/>
          </a:p>
        </p:txBody>
      </p:sp>
      <p:sp>
        <p:nvSpPr>
          <p:cNvPr id="11" name="Text 6"/>
          <p:cNvSpPr/>
          <p:nvPr/>
        </p:nvSpPr>
        <p:spPr>
          <a:xfrm>
            <a:off x="1800225" y="291345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/srv/semillero -type f -name '*.py'</a:t>
            </a:r>
            <a:endParaRPr lang="en-US" sz="1425" dirty="0"/>
          </a:p>
        </p:txBody>
      </p:sp>
      <p:sp>
        <p:nvSpPr>
          <p:cNvPr id="12" name="Text 7"/>
          <p:cNvSpPr/>
          <p:nvPr/>
        </p:nvSpPr>
        <p:spPr>
          <a:xfrm>
            <a:off x="7080200" y="2913459"/>
            <a:ext cx="3642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 el código fuente</a:t>
            </a:r>
            <a:endParaRPr lang="en-US" sz="1425" dirty="0"/>
          </a:p>
        </p:txBody>
      </p:sp>
      <p:sp>
        <p:nvSpPr>
          <p:cNvPr id="13" name="Text 8"/>
          <p:cNvSpPr/>
          <p:nvPr/>
        </p:nvSpPr>
        <p:spPr>
          <a:xfrm>
            <a:off x="1800225" y="321825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-rn 'TODO' /srv/semillero/codigo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7080200" y="3218259"/>
            <a:ext cx="3642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pendientes en el código</a:t>
            </a:r>
            <a:endParaRPr lang="en-US" sz="1425" dirty="0"/>
          </a:p>
        </p:txBody>
      </p:sp>
      <p:sp>
        <p:nvSpPr>
          <p:cNvPr id="15" name="Text 10"/>
          <p:cNvSpPr/>
          <p:nvPr/>
        </p:nvSpPr>
        <p:spPr>
          <a:xfrm>
            <a:off x="1800225" y="352305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/srv/semillero/entregas</a:t>
            </a:r>
            <a:endParaRPr lang="en-US" sz="1425" dirty="0"/>
          </a:p>
        </p:txBody>
      </p:sp>
      <p:sp>
        <p:nvSpPr>
          <p:cNvPr id="16" name="Text 11"/>
          <p:cNvSpPr/>
          <p:nvPr/>
        </p:nvSpPr>
        <p:spPr>
          <a:xfrm>
            <a:off x="7080200" y="3523059"/>
            <a:ext cx="3642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que ocupan las entregas</a:t>
            </a:r>
            <a:endParaRPr lang="en-US" sz="1425" dirty="0"/>
          </a:p>
        </p:txBody>
      </p:sp>
      <p:sp>
        <p:nvSpPr>
          <p:cNvPr id="17" name="Text 12"/>
          <p:cNvSpPr/>
          <p:nvPr/>
        </p:nvSpPr>
        <p:spPr>
          <a:xfrm>
            <a:off x="1800225" y="382785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-g devs luis</a:t>
            </a:r>
            <a:endParaRPr lang="en-US" sz="1425" dirty="0"/>
          </a:p>
        </p:txBody>
      </p:sp>
      <p:sp>
        <p:nvSpPr>
          <p:cNvPr id="18" name="Text 13"/>
          <p:cNvSpPr/>
          <p:nvPr/>
        </p:nvSpPr>
        <p:spPr>
          <a:xfrm>
            <a:off x="7080200" y="3827859"/>
            <a:ext cx="3642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se une al desarrollo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1800225" y="413265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find / -user luis</a:t>
            </a:r>
            <a:endParaRPr lang="en-US" sz="1425" dirty="0"/>
          </a:p>
        </p:txBody>
      </p:sp>
      <p:sp>
        <p:nvSpPr>
          <p:cNvPr id="20" name="Text 15"/>
          <p:cNvSpPr/>
          <p:nvPr/>
        </p:nvSpPr>
        <p:spPr>
          <a:xfrm>
            <a:off x="7080200" y="4132659"/>
            <a:ext cx="341092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sus archivos antes de la baja</a:t>
            </a:r>
            <a:endParaRPr lang="en-US" sz="1425" dirty="0"/>
          </a:p>
        </p:txBody>
      </p:sp>
      <p:sp>
        <p:nvSpPr>
          <p:cNvPr id="21" name="Text 16"/>
          <p:cNvSpPr/>
          <p:nvPr/>
        </p:nvSpPr>
        <p:spPr>
          <a:xfrm>
            <a:off x="1800225" y="464700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userdel -r luis</a:t>
            </a:r>
            <a:endParaRPr lang="en-US" sz="1425" dirty="0"/>
          </a:p>
        </p:txBody>
      </p:sp>
      <p:sp>
        <p:nvSpPr>
          <p:cNvPr id="22" name="Text 17"/>
          <p:cNvSpPr/>
          <p:nvPr/>
        </p:nvSpPr>
        <p:spPr>
          <a:xfrm>
            <a:off x="7080200" y="4647009"/>
            <a:ext cx="36427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práctica: cuenta y home fuera</a:t>
            </a:r>
            <a:endParaRPr lang="en-US" sz="1425" dirty="0"/>
          </a:p>
        </p:txBody>
      </p:sp>
      <p:sp>
        <p:nvSpPr>
          <p:cNvPr id="23" name="Text 18"/>
          <p:cNvSpPr/>
          <p:nvPr/>
        </p:nvSpPr>
        <p:spPr>
          <a:xfrm>
            <a:off x="1800225" y="4951809"/>
            <a:ext cx="5472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chgrp devs entregas ; sudo groupdel revisores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7080200" y="4951809"/>
            <a:ext cx="341092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Reasigna la carpeta y elimina el grupo vacío</a:t>
            </a:r>
            <a:endParaRPr lang="en-US" sz="1425" dirty="0"/>
          </a:p>
        </p:txBody>
      </p:sp>
      <p:sp>
        <p:nvSpPr>
          <p:cNvPr id="25" name="Text 2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 de ls -la tras el paso 3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1233934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122884"/>
            <a:ext cx="100533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Carpeta</a:t>
            </a:r>
            <a:endParaRPr lang="en-US" sz="1575" dirty="0"/>
          </a:p>
        </p:txBody>
      </p:sp>
      <p:sp>
        <p:nvSpPr>
          <p:cNvPr id="8" name="Shape 3"/>
          <p:cNvSpPr/>
          <p:nvPr/>
        </p:nvSpPr>
        <p:spPr>
          <a:xfrm>
            <a:off x="2757934" y="2037159"/>
            <a:ext cx="1462980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2910334" y="2122884"/>
            <a:ext cx="12343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Permisos</a:t>
            </a:r>
            <a:endParaRPr lang="en-US" sz="1575" dirty="0"/>
          </a:p>
        </p:txBody>
      </p:sp>
      <p:sp>
        <p:nvSpPr>
          <p:cNvPr id="10" name="Shape 5"/>
          <p:cNvSpPr/>
          <p:nvPr/>
        </p:nvSpPr>
        <p:spPr>
          <a:xfrm>
            <a:off x="4220914" y="2037159"/>
            <a:ext cx="847279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4373314" y="2122884"/>
            <a:ext cx="6186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Octal</a:t>
            </a:r>
            <a:endParaRPr lang="en-US" sz="1575" dirty="0"/>
          </a:p>
        </p:txBody>
      </p:sp>
      <p:sp>
        <p:nvSpPr>
          <p:cNvPr id="12" name="Shape 7"/>
          <p:cNvSpPr/>
          <p:nvPr/>
        </p:nvSpPr>
        <p:spPr>
          <a:xfrm>
            <a:off x="5068193" y="2037159"/>
            <a:ext cx="1806773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3" name="Text 8"/>
          <p:cNvSpPr/>
          <p:nvPr/>
        </p:nvSpPr>
        <p:spPr>
          <a:xfrm>
            <a:off x="5220593" y="2122884"/>
            <a:ext cx="15781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Dueño:grupo</a:t>
            </a:r>
            <a:endParaRPr lang="en-US" sz="1575" dirty="0"/>
          </a:p>
        </p:txBody>
      </p:sp>
      <p:sp>
        <p:nvSpPr>
          <p:cNvPr id="14" name="Shape 9"/>
          <p:cNvSpPr/>
          <p:nvPr/>
        </p:nvSpPr>
        <p:spPr>
          <a:xfrm>
            <a:off x="6874966" y="2037159"/>
            <a:ext cx="3793034" cy="40957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5" name="Text 10"/>
          <p:cNvSpPr/>
          <p:nvPr/>
        </p:nvSpPr>
        <p:spPr>
          <a:xfrm>
            <a:off x="7027366" y="2122884"/>
            <a:ext cx="36020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</a:t>
            </a:r>
            <a:endParaRPr lang="en-US" sz="1575" dirty="0"/>
          </a:p>
        </p:txBody>
      </p:sp>
      <p:sp>
        <p:nvSpPr>
          <p:cNvPr id="16" name="Shape 11"/>
          <p:cNvSpPr/>
          <p:nvPr/>
        </p:nvSpPr>
        <p:spPr>
          <a:xfrm>
            <a:off x="1524000" y="2842022"/>
            <a:ext cx="12339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1676400" y="2532459"/>
            <a:ext cx="100533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1575" dirty="0"/>
          </a:p>
        </p:txBody>
      </p:sp>
      <p:sp>
        <p:nvSpPr>
          <p:cNvPr id="18" name="Shape 13"/>
          <p:cNvSpPr/>
          <p:nvPr/>
        </p:nvSpPr>
        <p:spPr>
          <a:xfrm>
            <a:off x="2757934" y="2842022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2910334" y="2532459"/>
            <a:ext cx="123438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drwxrwsr-x</a:t>
            </a:r>
            <a:endParaRPr lang="en-US" sz="1575" dirty="0"/>
          </a:p>
        </p:txBody>
      </p:sp>
      <p:sp>
        <p:nvSpPr>
          <p:cNvPr id="20" name="Shape 15"/>
          <p:cNvSpPr/>
          <p:nvPr/>
        </p:nvSpPr>
        <p:spPr>
          <a:xfrm>
            <a:off x="4220914" y="2842022"/>
            <a:ext cx="84727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4373314" y="2532459"/>
            <a:ext cx="61867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2775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5068193" y="2842022"/>
            <a:ext cx="1806773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5220593" y="2532459"/>
            <a:ext cx="157817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ana:devs</a:t>
            </a:r>
            <a:endParaRPr lang="en-US" sz="1575" dirty="0"/>
          </a:p>
        </p:txBody>
      </p:sp>
      <p:sp>
        <p:nvSpPr>
          <p:cNvPr id="24" name="Shape 19"/>
          <p:cNvSpPr/>
          <p:nvPr/>
        </p:nvSpPr>
        <p:spPr>
          <a:xfrm>
            <a:off x="6874966" y="2842022"/>
            <a:ext cx="37930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5" name="Text 20"/>
          <p:cNvSpPr/>
          <p:nvPr/>
        </p:nvSpPr>
        <p:spPr>
          <a:xfrm>
            <a:off x="7027366" y="2532459"/>
            <a:ext cx="360202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 edita; hereda grupo</a:t>
            </a:r>
            <a:endParaRPr lang="en-US" sz="1575" dirty="0"/>
          </a:p>
        </p:txBody>
      </p:sp>
      <p:sp>
        <p:nvSpPr>
          <p:cNvPr id="26" name="Shape 21"/>
          <p:cNvSpPr/>
          <p:nvPr/>
        </p:nvSpPr>
        <p:spPr>
          <a:xfrm>
            <a:off x="1524000" y="2851547"/>
            <a:ext cx="1233934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7" name="Shape 22"/>
          <p:cNvSpPr/>
          <p:nvPr/>
        </p:nvSpPr>
        <p:spPr>
          <a:xfrm>
            <a:off x="1524000" y="3251597"/>
            <a:ext cx="12339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76400" y="2937272"/>
            <a:ext cx="10053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575" dirty="0"/>
          </a:p>
        </p:txBody>
      </p:sp>
      <p:sp>
        <p:nvSpPr>
          <p:cNvPr id="29" name="Shape 24"/>
          <p:cNvSpPr/>
          <p:nvPr/>
        </p:nvSpPr>
        <p:spPr>
          <a:xfrm>
            <a:off x="2757934" y="2851547"/>
            <a:ext cx="146298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0" name="Shape 25"/>
          <p:cNvSpPr/>
          <p:nvPr/>
        </p:nvSpPr>
        <p:spPr>
          <a:xfrm>
            <a:off x="2757934" y="3251597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2910334" y="2937272"/>
            <a:ext cx="12343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drwxr-xr-x</a:t>
            </a:r>
            <a:endParaRPr lang="en-US" sz="1575" dirty="0"/>
          </a:p>
        </p:txBody>
      </p:sp>
      <p:sp>
        <p:nvSpPr>
          <p:cNvPr id="32" name="Shape 27"/>
          <p:cNvSpPr/>
          <p:nvPr/>
        </p:nvSpPr>
        <p:spPr>
          <a:xfrm>
            <a:off x="4220914" y="2851547"/>
            <a:ext cx="847279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3" name="Shape 28"/>
          <p:cNvSpPr/>
          <p:nvPr/>
        </p:nvSpPr>
        <p:spPr>
          <a:xfrm>
            <a:off x="4220914" y="3251597"/>
            <a:ext cx="84727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4" name="Text 29"/>
          <p:cNvSpPr/>
          <p:nvPr/>
        </p:nvSpPr>
        <p:spPr>
          <a:xfrm>
            <a:off x="4373314" y="2937272"/>
            <a:ext cx="6186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1575" dirty="0"/>
          </a:p>
        </p:txBody>
      </p:sp>
      <p:sp>
        <p:nvSpPr>
          <p:cNvPr id="35" name="Shape 30"/>
          <p:cNvSpPr/>
          <p:nvPr/>
        </p:nvSpPr>
        <p:spPr>
          <a:xfrm>
            <a:off x="5068193" y="2851547"/>
            <a:ext cx="1806773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6" name="Shape 31"/>
          <p:cNvSpPr/>
          <p:nvPr/>
        </p:nvSpPr>
        <p:spPr>
          <a:xfrm>
            <a:off x="5068193" y="3251597"/>
            <a:ext cx="1806773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7" name="Text 32"/>
          <p:cNvSpPr/>
          <p:nvPr/>
        </p:nvSpPr>
        <p:spPr>
          <a:xfrm>
            <a:off x="5220593" y="2937272"/>
            <a:ext cx="1578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ana:devs</a:t>
            </a:r>
            <a:endParaRPr lang="en-US" sz="1575" dirty="0"/>
          </a:p>
        </p:txBody>
      </p:sp>
      <p:sp>
        <p:nvSpPr>
          <p:cNvPr id="38" name="Shape 33"/>
          <p:cNvSpPr/>
          <p:nvPr/>
        </p:nvSpPr>
        <p:spPr>
          <a:xfrm>
            <a:off x="6874966" y="2851547"/>
            <a:ext cx="3793034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9" name="Shape 34"/>
          <p:cNvSpPr/>
          <p:nvPr/>
        </p:nvSpPr>
        <p:spPr>
          <a:xfrm>
            <a:off x="6874966" y="3251597"/>
            <a:ext cx="37930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0" name="Text 35"/>
          <p:cNvSpPr/>
          <p:nvPr/>
        </p:nvSpPr>
        <p:spPr>
          <a:xfrm>
            <a:off x="7027366" y="2937272"/>
            <a:ext cx="3602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leen; solo ana escribe</a:t>
            </a:r>
            <a:endParaRPr lang="en-US" sz="1575" dirty="0"/>
          </a:p>
        </p:txBody>
      </p:sp>
      <p:sp>
        <p:nvSpPr>
          <p:cNvPr id="41" name="Shape 36"/>
          <p:cNvSpPr/>
          <p:nvPr/>
        </p:nvSpPr>
        <p:spPr>
          <a:xfrm>
            <a:off x="1524000" y="3661172"/>
            <a:ext cx="12339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2" name="Text 37"/>
          <p:cNvSpPr/>
          <p:nvPr/>
        </p:nvSpPr>
        <p:spPr>
          <a:xfrm>
            <a:off x="1676400" y="3346847"/>
            <a:ext cx="10053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entregas</a:t>
            </a:r>
            <a:endParaRPr lang="en-US" sz="1575" dirty="0"/>
          </a:p>
        </p:txBody>
      </p:sp>
      <p:sp>
        <p:nvSpPr>
          <p:cNvPr id="43" name="Shape 38"/>
          <p:cNvSpPr/>
          <p:nvPr/>
        </p:nvSpPr>
        <p:spPr>
          <a:xfrm>
            <a:off x="2757934" y="3661172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4" name="Text 39"/>
          <p:cNvSpPr/>
          <p:nvPr/>
        </p:nvSpPr>
        <p:spPr>
          <a:xfrm>
            <a:off x="2910334" y="3346847"/>
            <a:ext cx="12343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drwxrwxrwt</a:t>
            </a:r>
            <a:endParaRPr lang="en-US" sz="1575" dirty="0"/>
          </a:p>
        </p:txBody>
      </p:sp>
      <p:sp>
        <p:nvSpPr>
          <p:cNvPr id="45" name="Shape 40"/>
          <p:cNvSpPr/>
          <p:nvPr/>
        </p:nvSpPr>
        <p:spPr>
          <a:xfrm>
            <a:off x="4220914" y="3661172"/>
            <a:ext cx="84727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6" name="Text 41"/>
          <p:cNvSpPr/>
          <p:nvPr/>
        </p:nvSpPr>
        <p:spPr>
          <a:xfrm>
            <a:off x="4373314" y="3346847"/>
            <a:ext cx="6186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1777</a:t>
            </a:r>
            <a:endParaRPr lang="en-US" sz="1575" dirty="0"/>
          </a:p>
        </p:txBody>
      </p:sp>
      <p:sp>
        <p:nvSpPr>
          <p:cNvPr id="47" name="Shape 42"/>
          <p:cNvSpPr/>
          <p:nvPr/>
        </p:nvSpPr>
        <p:spPr>
          <a:xfrm>
            <a:off x="5068193" y="3661172"/>
            <a:ext cx="1806773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8" name="Text 43"/>
          <p:cNvSpPr/>
          <p:nvPr/>
        </p:nvSpPr>
        <p:spPr>
          <a:xfrm>
            <a:off x="5220593" y="3346847"/>
            <a:ext cx="1578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ana:revisores</a:t>
            </a:r>
            <a:endParaRPr lang="en-US" sz="1575" dirty="0"/>
          </a:p>
        </p:txBody>
      </p:sp>
      <p:sp>
        <p:nvSpPr>
          <p:cNvPr id="49" name="Shape 44"/>
          <p:cNvSpPr/>
          <p:nvPr/>
        </p:nvSpPr>
        <p:spPr>
          <a:xfrm>
            <a:off x="6874966" y="3661172"/>
            <a:ext cx="37930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7027366" y="3346847"/>
            <a:ext cx="3602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depositan; nadie borra lo ajeno</a:t>
            </a:r>
            <a:endParaRPr lang="en-US" sz="1575" dirty="0"/>
          </a:p>
        </p:txBody>
      </p:sp>
      <p:sp>
        <p:nvSpPr>
          <p:cNvPr id="51" name="Shape 46"/>
          <p:cNvSpPr/>
          <p:nvPr/>
        </p:nvSpPr>
        <p:spPr>
          <a:xfrm>
            <a:off x="1524000" y="3670697"/>
            <a:ext cx="1233934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1524000" y="4070747"/>
            <a:ext cx="12339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1676400" y="3756422"/>
            <a:ext cx="10053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actas</a:t>
            </a:r>
            <a:endParaRPr lang="en-US" sz="1575" dirty="0"/>
          </a:p>
        </p:txBody>
      </p:sp>
      <p:sp>
        <p:nvSpPr>
          <p:cNvPr id="54" name="Shape 49"/>
          <p:cNvSpPr/>
          <p:nvPr/>
        </p:nvSpPr>
        <p:spPr>
          <a:xfrm>
            <a:off x="2757934" y="3670697"/>
            <a:ext cx="1462980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2757934" y="4070747"/>
            <a:ext cx="14629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2910334" y="3756422"/>
            <a:ext cx="12343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drwx------</a:t>
            </a:r>
            <a:endParaRPr lang="en-US" sz="1575" dirty="0"/>
          </a:p>
        </p:txBody>
      </p:sp>
      <p:sp>
        <p:nvSpPr>
          <p:cNvPr id="57" name="Shape 52"/>
          <p:cNvSpPr/>
          <p:nvPr/>
        </p:nvSpPr>
        <p:spPr>
          <a:xfrm>
            <a:off x="4220914" y="3670697"/>
            <a:ext cx="847279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8" name="Shape 53"/>
          <p:cNvSpPr/>
          <p:nvPr/>
        </p:nvSpPr>
        <p:spPr>
          <a:xfrm>
            <a:off x="4220914" y="4070747"/>
            <a:ext cx="84727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9" name="Text 54"/>
          <p:cNvSpPr/>
          <p:nvPr/>
        </p:nvSpPr>
        <p:spPr>
          <a:xfrm>
            <a:off x="4373314" y="3756422"/>
            <a:ext cx="6186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</a:t>
            </a:r>
            <a:endParaRPr lang="en-US" sz="1575" dirty="0"/>
          </a:p>
        </p:txBody>
      </p:sp>
      <p:sp>
        <p:nvSpPr>
          <p:cNvPr id="60" name="Shape 55"/>
          <p:cNvSpPr/>
          <p:nvPr/>
        </p:nvSpPr>
        <p:spPr>
          <a:xfrm>
            <a:off x="5068193" y="3670697"/>
            <a:ext cx="1806773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1" name="Shape 56"/>
          <p:cNvSpPr/>
          <p:nvPr/>
        </p:nvSpPr>
        <p:spPr>
          <a:xfrm>
            <a:off x="5068193" y="4070747"/>
            <a:ext cx="1806773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5220593" y="3756422"/>
            <a:ext cx="1578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ana:devs</a:t>
            </a:r>
            <a:endParaRPr lang="en-US" sz="1575" dirty="0"/>
          </a:p>
        </p:txBody>
      </p:sp>
      <p:sp>
        <p:nvSpPr>
          <p:cNvPr id="63" name="Shape 58"/>
          <p:cNvSpPr/>
          <p:nvPr/>
        </p:nvSpPr>
        <p:spPr>
          <a:xfrm>
            <a:off x="6874966" y="3670697"/>
            <a:ext cx="3793034" cy="4095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6874966" y="4070747"/>
            <a:ext cx="3793034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7027366" y="3756422"/>
            <a:ext cx="3602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la coordinadora</a:t>
            </a:r>
            <a:endParaRPr lang="en-US" sz="1575" dirty="0"/>
          </a:p>
        </p:txBody>
      </p:sp>
      <p:sp>
        <p:nvSpPr>
          <p:cNvPr id="66" name="Text 61"/>
          <p:cNvSpPr/>
          <p:nvPr/>
        </p:nvSpPr>
        <p:spPr>
          <a:xfrm>
            <a:off x="1524000" y="6165205"/>
            <a:ext cx="54144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 a partir de los comandos del caso de estudio.</a:t>
            </a:r>
            <a:endParaRPr lang="en-US" sz="1200" dirty="0"/>
          </a:p>
        </p:txBody>
      </p:sp>
      <p:sp>
        <p:nvSpPr>
          <p:cNvPr id="67" name="Text 62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Retos para poner a prueba el caso</a:t>
            </a:r>
            <a:endParaRPr lang="en-US" sz="4350" dirty="0"/>
          </a:p>
        </p:txBody>
      </p:sp>
      <p:sp>
        <p:nvSpPr>
          <p:cNvPr id="6" name="Text 1"/>
          <p:cNvSpPr/>
          <p:nvPr/>
        </p:nvSpPr>
        <p:spPr>
          <a:xfrm>
            <a:off x="1472505" y="2075259"/>
            <a:ext cx="10076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85763" indent="-385763">
              <a:buSzPct val="100000"/>
              <a:buFont typeface="+mj-lt"/>
              <a:buAutoNum type="arabicPeriod" startAt="1"/>
              <a:tabLst>
                <a:tab pos="385763" algn="l"/>
              </a:tabLst>
            </a:pPr>
            <a:r>
              <a:rPr lang="en-US" sz="20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¿Puede carlos borrar una entrega de luis?</a:t>
            </a:r>
            <a:endParaRPr lang="en-US" sz="2025" dirty="0"/>
          </a:p>
        </p:txBody>
      </p:sp>
      <p:sp>
        <p:nvSpPr>
          <p:cNvPr id="7" name="Text 2"/>
          <p:cNvSpPr/>
          <p:nvPr/>
        </p:nvSpPr>
        <p:spPr>
          <a:xfrm>
            <a:off x="1472505" y="2513409"/>
            <a:ext cx="10076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85763" indent="-385763">
              <a:buSzPct val="100000"/>
              <a:buFont typeface="+mj-lt"/>
              <a:buAutoNum type="arabicPeriod" startAt="2"/>
              <a:tabLst>
                <a:tab pos="385763" algn="l"/>
              </a:tabLst>
            </a:pPr>
            <a:r>
              <a:rPr lang="en-US" sz="20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grupo recibe un archivo nuevo en codigo?</a:t>
            </a:r>
            <a:endParaRPr lang="en-US" sz="2025" dirty="0"/>
          </a:p>
        </p:txBody>
      </p:sp>
      <p:sp>
        <p:nvSpPr>
          <p:cNvPr id="8" name="Text 3"/>
          <p:cNvSpPr/>
          <p:nvPr/>
        </p:nvSpPr>
        <p:spPr>
          <a:xfrm>
            <a:off x="1472505" y="2951559"/>
            <a:ext cx="10076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85763" indent="-385763">
              <a:buSzPct val="100000"/>
              <a:buFont typeface="+mj-lt"/>
              <a:buAutoNum type="arabicPeriod" startAt="3"/>
              <a:tabLst>
                <a:tab pos="385763" algn="l"/>
              </a:tabLst>
            </a:pPr>
            <a:r>
              <a:rPr lang="en-US" sz="20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falla rmdir docs y qué alternativa existe?</a:t>
            </a:r>
            <a:endParaRPr lang="en-US" sz="2025" dirty="0"/>
          </a:p>
        </p:txBody>
      </p:sp>
      <p:sp>
        <p:nvSpPr>
          <p:cNvPr id="9" name="Text 4"/>
          <p:cNvSpPr/>
          <p:nvPr/>
        </p:nvSpPr>
        <p:spPr>
          <a:xfrm>
            <a:off x="1472505" y="3389709"/>
            <a:ext cx="10076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85763" indent="-385763">
              <a:buSzPct val="100000"/>
              <a:buFont typeface="+mj-lt"/>
              <a:buAutoNum type="arabicPeriod" startAt="4"/>
              <a:tabLst>
                <a:tab pos="385763" algn="l"/>
              </a:tabLst>
            </a:pPr>
            <a:r>
              <a:rPr lang="en-US" sz="20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¿Puede luis entrar en actas?</a:t>
            </a:r>
            <a:endParaRPr lang="en-US" sz="2025" dirty="0"/>
          </a:p>
        </p:txBody>
      </p:sp>
      <p:sp>
        <p:nvSpPr>
          <p:cNvPr id="10" name="Text 5"/>
          <p:cNvSpPr/>
          <p:nvPr/>
        </p:nvSpPr>
        <p:spPr>
          <a:xfrm>
            <a:off x="1472505" y="3827859"/>
            <a:ext cx="10076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85763" indent="-385763">
              <a:buSzPct val="100000"/>
              <a:buFont typeface="+mj-lt"/>
              <a:buAutoNum type="arabicPeriod" startAt="5"/>
              <a:tabLst>
                <a:tab pos="385763" algn="l"/>
              </a:tabLst>
            </a:pPr>
            <a:r>
              <a:rPr lang="en-US" sz="20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proteger README.txt incluso frente a root?</a:t>
            </a:r>
            <a:endParaRPr lang="en-US" sz="2025" dirty="0"/>
          </a:p>
        </p:txBody>
      </p:sp>
      <p:sp>
        <p:nvSpPr>
          <p:cNvPr id="11" name="Text 6"/>
          <p:cNvSpPr/>
          <p:nvPr/>
        </p:nvSpPr>
        <p:spPr>
          <a:xfrm>
            <a:off x="1472505" y="4266009"/>
            <a:ext cx="10076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85763" indent="-385763">
              <a:buSzPct val="100000"/>
              <a:buFont typeface="+mj-lt"/>
              <a:buAutoNum type="arabicPeriod" startAt="6"/>
              <a:tabLst>
                <a:tab pos="385763" algn="l"/>
              </a:tabLst>
            </a:pPr>
            <a:r>
              <a:rPr lang="en-US" sz="20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auditar binarios con SUID en el servidor?</a:t>
            </a:r>
            <a:endParaRPr lang="en-US" sz="2025" dirty="0"/>
          </a:p>
        </p:txBody>
      </p:sp>
      <p:sp>
        <p:nvSpPr>
          <p:cNvPr id="12" name="Text 7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Respuestas de los retos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2037159"/>
            <a:ext cx="54858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13359"/>
            <a:ext cx="35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N.º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2072580" y="2037159"/>
            <a:ext cx="5303639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2205930" y="2113359"/>
            <a:ext cx="51960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Respuesta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7376220" y="2037159"/>
            <a:ext cx="329178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7509570" y="2113359"/>
            <a:ext cx="31238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 de comprobación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56297"/>
            <a:ext cx="5485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75309"/>
            <a:ext cx="3580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2072580" y="2756297"/>
            <a:ext cx="53036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2205930" y="2475309"/>
            <a:ext cx="51960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el sticky bit solo permite borrar al dueño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7376220" y="2756297"/>
            <a:ext cx="32917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7509570" y="2475309"/>
            <a:ext cx="312383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-ld entregas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65822"/>
            <a:ext cx="54858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337322"/>
            <a:ext cx="5485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42022"/>
            <a:ext cx="358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2072580" y="2765822"/>
            <a:ext cx="5303639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2072580" y="3337322"/>
            <a:ext cx="53036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2205930" y="2842022"/>
            <a:ext cx="51960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devs, por el SGID de la carpeta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7376220" y="2765822"/>
            <a:ext cx="329178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376220" y="3337322"/>
            <a:ext cx="32917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7509570" y="2842022"/>
            <a:ext cx="31238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codigo/a.py ; ls -l codigo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708797"/>
            <a:ext cx="5485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423047"/>
            <a:ext cx="35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2072580" y="3708797"/>
            <a:ext cx="53036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2205930" y="3423047"/>
            <a:ext cx="51960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no está vacía; se usa rm -r tras revisar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7376220" y="3708797"/>
            <a:ext cx="32917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7509570" y="3423047"/>
            <a:ext cx="31238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 ; sudo rm -r docs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718322"/>
            <a:ext cx="5485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080272"/>
            <a:ext cx="5485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794522"/>
            <a:ext cx="35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2072580" y="3718322"/>
            <a:ext cx="53036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2072580" y="4080272"/>
            <a:ext cx="53036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2205930" y="3794522"/>
            <a:ext cx="51960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con 700 grupo y otros no tienen x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7376220" y="3718322"/>
            <a:ext cx="32917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376220" y="4080272"/>
            <a:ext cx="32917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7509570" y="3794522"/>
            <a:ext cx="31238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-ld actas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451747"/>
            <a:ext cx="5485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4165997"/>
            <a:ext cx="35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2072580" y="4451747"/>
            <a:ext cx="53036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2205930" y="4165997"/>
            <a:ext cx="51960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 inmutable; se retira con chattr -i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7376220" y="4451747"/>
            <a:ext cx="32917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7509570" y="4165997"/>
            <a:ext cx="31238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chattr +i docs/README.txt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461272"/>
            <a:ext cx="5485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823222"/>
            <a:ext cx="5485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537472"/>
            <a:ext cx="35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2072580" y="4461272"/>
            <a:ext cx="53036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2072580" y="4823222"/>
            <a:ext cx="53036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2205930" y="4537472"/>
            <a:ext cx="51960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el permiso u+s en todo el sistema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7376220" y="4461272"/>
            <a:ext cx="329178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7376220" y="4823222"/>
            <a:ext cx="329178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7509570" y="4537472"/>
            <a:ext cx="31238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-perm -u+s</a:t>
            </a:r>
            <a:endParaRPr lang="en-US" sz="1425" dirty="0"/>
          </a:p>
        </p:txBody>
      </p:sp>
      <p:sp>
        <p:nvSpPr>
          <p:cNvPr id="57" name="Text 52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746772"/>
            <a:ext cx="1983581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861072"/>
            <a:ext cx="1450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GLOSARIO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499247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 comandos: función y sintaxis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Glosario · cat a cp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1999059"/>
            <a:ext cx="137160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075259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2895600" y="1999059"/>
            <a:ext cx="429771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3028950" y="2075259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7193310" y="1999059"/>
            <a:ext cx="34746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7326660" y="2075259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181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37209"/>
            <a:ext cx="11811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2895600" y="27181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3028950" y="2437209"/>
            <a:ext cx="415994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contenido completo de un archivo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7193310" y="27181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7326660" y="2437209"/>
            <a:ext cx="331223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archivo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2772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0896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039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2895600" y="272772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2895600" y="30896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3028950" y="28039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directorio de trabajo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7193310" y="272772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193310" y="30896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7326660" y="28039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[ruta | .. | - | ~usuario]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4611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1753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chage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2895600" y="34611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3028950" y="31753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 la caducidad de una cuenta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7193310" y="34611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7326660" y="31753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chage -E AAAA-MM-DD usuario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470672"/>
            <a:ext cx="137160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0421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546872"/>
            <a:ext cx="1181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chattr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2895600" y="3470672"/>
            <a:ext cx="429771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2895600" y="40421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3028950" y="3546872"/>
            <a:ext cx="41599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atributos especiales (+i inmutable, +a solo añadir)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7193310" y="3470672"/>
            <a:ext cx="347469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193310" y="40421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7326660" y="3546872"/>
            <a:ext cx="33122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chattr [+|-]atributo archivo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4136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41278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chgrp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2895600" y="44136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3028950" y="41278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grupo propietario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7193310" y="44136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7326660" y="41278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chgrp [-R] grupo archivo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42317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7851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49937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2895600" y="442317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2895600" y="47851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3028950" y="449937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 permisos en modo simbólico u octal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7193310" y="442317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7193310" y="47851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7326660" y="449937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[-R] modo archivo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53661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4870847"/>
            <a:ext cx="1181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2895600" y="53661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3028950" y="4870847"/>
            <a:ext cx="41599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propietario y, opcionalmente, grupo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7193310" y="53661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7326660" y="4870847"/>
            <a:ext cx="33122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[-R] usuario[:grupo] archivo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537567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57376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545187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2895600" y="537567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2895600" y="57376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3028950" y="545187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archivos o directorios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7193310" y="537567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7193310" y="57376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7326660" y="545187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[-r | -a] origen destino</a:t>
            </a:r>
            <a:endParaRPr lang="en-US" sz="1425" dirty="0"/>
          </a:p>
        </p:txBody>
      </p:sp>
      <p:sp>
        <p:nvSpPr>
          <p:cNvPr id="72" name="Text 67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Glosario · du a grpck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1999059"/>
            <a:ext cx="137160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075259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2895600" y="1999059"/>
            <a:ext cx="429771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3028950" y="2075259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7193310" y="1999059"/>
            <a:ext cx="34746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7326660" y="2075259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181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37209"/>
            <a:ext cx="11811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2895600" y="27181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3028950" y="2437209"/>
            <a:ext cx="415994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 el espacio usado por un directorio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7193310" y="27181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7326660" y="2437209"/>
            <a:ext cx="331223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directorio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2772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0896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039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2895600" y="272772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2895600" y="30896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3028950" y="28039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el tipo de contenido de un archivo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7193310" y="272772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193310" y="30896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7326660" y="28039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archivo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6706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175397"/>
            <a:ext cx="1181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2895600" y="36706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3028950" y="3175397"/>
            <a:ext cx="41599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nombre, tipo, usuario, fecha o permisos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7193310" y="36706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7326660" y="3175397"/>
            <a:ext cx="33122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ruta [-name | -type | -user | -perm] valor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68022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0421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7564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2895600" y="368022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2895600" y="40421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3028950" y="37564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las líneas que coinciden con un patrón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7193310" y="368022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193310" y="40421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7326660" y="37564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[-rn] 'patrón' archivo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4136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41278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groupadd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2895600" y="44136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3028950" y="41278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grupo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7193310" y="44136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7326660" y="41278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groupadd grupo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42317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7851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49937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groupdel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2895600" y="442317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2895600" y="47851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3028950" y="449937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un grupo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7193310" y="442317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7193310" y="47851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7326660" y="449937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groupdel grupo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51565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487084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groupmod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2895600" y="51565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3028950" y="487084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Renombra un grupo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7193310" y="51565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7326660" y="487084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groupmod -n nuevo viejo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516612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55280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52423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grpck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2895600" y="516612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2895600" y="55280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3028950" y="52423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el formato de /etc/group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7193310" y="516612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7193310" y="55280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7326660" y="52423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grpck</a:t>
            </a:r>
            <a:endParaRPr lang="en-US" sz="1425" dirty="0"/>
          </a:p>
        </p:txBody>
      </p:sp>
      <p:sp>
        <p:nvSpPr>
          <p:cNvPr id="72" name="Text 67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Glosario · head a newgrp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1999059"/>
            <a:ext cx="137160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075259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2895600" y="1999059"/>
            <a:ext cx="429771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3028950" y="2075259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7193310" y="1999059"/>
            <a:ext cx="347469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7326660" y="2075259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181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37209"/>
            <a:ext cx="11811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2895600" y="27181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3028950" y="2437209"/>
            <a:ext cx="415994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las primeras líneas de un archivo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7193310" y="27181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7326660" y="2437209"/>
            <a:ext cx="331223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[-n N] archivo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2772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0896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039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2895600" y="272772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2895600" y="30896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3028950" y="28039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 un archivo de forma interactiva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7193310" y="272772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193310" y="30896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7326660" y="28039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archivo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4611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1753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2895600" y="34611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3028950" y="31753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enlaces físicos o simbólicos (-s)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7193310" y="34611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7326660" y="31753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[-s] objetivo enlace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47067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38326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54687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2895600" y="347067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2895600" y="38326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3028950" y="354687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en el índice generado por updatedb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7193310" y="347067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193310" y="38326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7326660" y="354687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locate patrón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2040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391834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2895600" y="42040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3028950" y="391834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contenido: -l detalles, -a ocultos, -h tamaños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7193310" y="42040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7326660" y="391834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[-lahF] [ruta]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21362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5755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2898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2895600" y="421362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2895600" y="45755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3028950" y="42898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directorios; -p crea los padres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7193310" y="421362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7193310" y="45755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7326660" y="42898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[-p] dir1 [dir2 …]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49470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46612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2895600" y="49470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3028950" y="46612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Mueve o renombra archivos y directorios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7193310" y="49470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7326660" y="46612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origen destino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495657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53185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503277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newgrp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2895600" y="4956572"/>
            <a:ext cx="429771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2895600" y="53185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3028950" y="503277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grupo activo de la sesión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7193310" y="4956572"/>
            <a:ext cx="347469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7193310" y="53185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7326660" y="503277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newgrp grupo</a:t>
            </a:r>
            <a:endParaRPr lang="en-US" sz="1425" dirty="0"/>
          </a:p>
        </p:txBody>
      </p:sp>
      <p:sp>
        <p:nvSpPr>
          <p:cNvPr id="72" name="Text 67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Glosario · passwd a tail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1999059"/>
            <a:ext cx="1371600" cy="34290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065734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2895600" y="1999059"/>
            <a:ext cx="4297710" cy="34290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3028950" y="2065734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7193310" y="1999059"/>
            <a:ext cx="3474690" cy="34290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7326660" y="2065734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6800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08634"/>
            <a:ext cx="11811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passwd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2895600" y="26800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3028950" y="2408634"/>
            <a:ext cx="415994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 contraseña propia o de otro (root)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7193310" y="26800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7326660" y="2408634"/>
            <a:ext cx="331223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passwd [usuario]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689622"/>
            <a:ext cx="137160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0325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7562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pwck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2895600" y="2689622"/>
            <a:ext cx="429771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2895600" y="30325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3028950" y="27562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el formato de /etc/passwd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7193310" y="2689622"/>
            <a:ext cx="347469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193310" y="30325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7326660" y="27562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pwck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3849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1087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2895600" y="33849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3028950" y="31087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ruta del directorio actual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7193310" y="33849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7326660" y="31087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394472"/>
            <a:ext cx="137160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37373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46114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2895600" y="3394472"/>
            <a:ext cx="429771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2895600" y="373737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3028950" y="346114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archivos; -r directorios, -f sin confirmar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7193310" y="3394472"/>
            <a:ext cx="347469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7193310" y="373737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7326660" y="346114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[-r] [-f] ruta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0897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381357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2895600" y="40897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3028950" y="381357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directorios vacíos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7193310" y="40897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7326660" y="381357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 [-p] directorio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099322"/>
            <a:ext cx="137160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4422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1659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2895600" y="4099322"/>
            <a:ext cx="429771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2895600" y="44422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3028950" y="41659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de usuario en la sesión actual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7193310" y="4099322"/>
            <a:ext cx="347469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7193310" y="44422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7326660" y="41659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[-] [usuario]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50041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4518422"/>
            <a:ext cx="1181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2895600" y="500419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3028950" y="4518422"/>
            <a:ext cx="415994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un comando con privilegios de otro usuario (root por defecto)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7193310" y="500419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7326660" y="4518422"/>
            <a:ext cx="331223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[-u usuario] comando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5013722"/>
            <a:ext cx="137160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53566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50803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2895600" y="5013722"/>
            <a:ext cx="429771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2895600" y="5356622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3028950" y="5080397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un archivo en orden inverso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7193310" y="5013722"/>
            <a:ext cx="3474690" cy="3524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7193310" y="5356622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7326660" y="5080397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 archivo</a:t>
            </a:r>
            <a:endParaRPr lang="en-US" sz="1425" dirty="0"/>
          </a:p>
        </p:txBody>
      </p:sp>
      <p:sp>
        <p:nvSpPr>
          <p:cNvPr id="72" name="Shape 67"/>
          <p:cNvSpPr/>
          <p:nvPr/>
        </p:nvSpPr>
        <p:spPr>
          <a:xfrm>
            <a:off x="1524000" y="57090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3" name="Text 68"/>
          <p:cNvSpPr/>
          <p:nvPr/>
        </p:nvSpPr>
        <p:spPr>
          <a:xfrm>
            <a:off x="1657350" y="54328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endParaRPr lang="en-US" sz="1425" dirty="0"/>
          </a:p>
        </p:txBody>
      </p:sp>
      <p:sp>
        <p:nvSpPr>
          <p:cNvPr id="74" name="Shape 69"/>
          <p:cNvSpPr/>
          <p:nvPr/>
        </p:nvSpPr>
        <p:spPr>
          <a:xfrm>
            <a:off x="2895600" y="5709047"/>
            <a:ext cx="429771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5" name="Text 70"/>
          <p:cNvSpPr/>
          <p:nvPr/>
        </p:nvSpPr>
        <p:spPr>
          <a:xfrm>
            <a:off x="3028950" y="5432822"/>
            <a:ext cx="41599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las últimas líneas; -f sigue los cambios</a:t>
            </a:r>
            <a:endParaRPr lang="en-US" sz="1425" dirty="0"/>
          </a:p>
        </p:txBody>
      </p:sp>
      <p:sp>
        <p:nvSpPr>
          <p:cNvPr id="76" name="Shape 71"/>
          <p:cNvSpPr/>
          <p:nvPr/>
        </p:nvSpPr>
        <p:spPr>
          <a:xfrm>
            <a:off x="7193310" y="5709047"/>
            <a:ext cx="347469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7" name="Text 72"/>
          <p:cNvSpPr/>
          <p:nvPr/>
        </p:nvSpPr>
        <p:spPr>
          <a:xfrm>
            <a:off x="7326660" y="5432822"/>
            <a:ext cx="33122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[-f] [-n N] archivo</a:t>
            </a:r>
            <a:endParaRPr lang="en-US" sz="1425" dirty="0"/>
          </a:p>
        </p:txBody>
      </p:sp>
      <p:sp>
        <p:nvSpPr>
          <p:cNvPr id="78" name="Text 73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Glosario · touch a which</a:t>
            </a:r>
            <a:endParaRPr lang="en-US" sz="4350" dirty="0"/>
          </a:p>
        </p:txBody>
      </p:sp>
      <p:sp>
        <p:nvSpPr>
          <p:cNvPr id="6" name="Shape 1"/>
          <p:cNvSpPr/>
          <p:nvPr/>
        </p:nvSpPr>
        <p:spPr>
          <a:xfrm>
            <a:off x="1524000" y="1999059"/>
            <a:ext cx="1371600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075259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2895600" y="1999059"/>
            <a:ext cx="3932039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3028950" y="2075259"/>
            <a:ext cx="3783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6827639" y="1999059"/>
            <a:ext cx="3840361" cy="3619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11" name="Text 6"/>
          <p:cNvSpPr/>
          <p:nvPr/>
        </p:nvSpPr>
        <p:spPr>
          <a:xfrm>
            <a:off x="6960989" y="2075259"/>
            <a:ext cx="36888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Sintaxis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1524000" y="271819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2437209"/>
            <a:ext cx="11811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2895600" y="2718197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5" name="Text 10"/>
          <p:cNvSpPr/>
          <p:nvPr/>
        </p:nvSpPr>
        <p:spPr>
          <a:xfrm>
            <a:off x="3028950" y="2437209"/>
            <a:ext cx="37833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archivo vacío o actualiza su fecha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6827639" y="2718197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7" name="Text 12"/>
          <p:cNvSpPr/>
          <p:nvPr/>
        </p:nvSpPr>
        <p:spPr>
          <a:xfrm>
            <a:off x="6960989" y="2437209"/>
            <a:ext cx="368887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[-t AAMMDDhhmm] archivo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1524000" y="272772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524000" y="30896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1657350" y="280392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2895600" y="2727722"/>
            <a:ext cx="39320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Shape 17"/>
          <p:cNvSpPr/>
          <p:nvPr/>
        </p:nvSpPr>
        <p:spPr>
          <a:xfrm>
            <a:off x="2895600" y="3089672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3028950" y="2803922"/>
            <a:ext cx="3783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directorios y archivos en árbol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6827639" y="2727722"/>
            <a:ext cx="3840361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6827639" y="3089672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6960989" y="2803922"/>
            <a:ext cx="36888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[ruta]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1524000" y="34611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8" name="Text 23"/>
          <p:cNvSpPr/>
          <p:nvPr/>
        </p:nvSpPr>
        <p:spPr>
          <a:xfrm>
            <a:off x="1657350" y="31753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umask</a:t>
            </a:r>
            <a:endParaRPr lang="en-US" sz="1425" dirty="0"/>
          </a:p>
        </p:txBody>
      </p:sp>
      <p:sp>
        <p:nvSpPr>
          <p:cNvPr id="29" name="Shape 24"/>
          <p:cNvSpPr/>
          <p:nvPr/>
        </p:nvSpPr>
        <p:spPr>
          <a:xfrm>
            <a:off x="2895600" y="3461147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0" name="Text 25"/>
          <p:cNvSpPr/>
          <p:nvPr/>
        </p:nvSpPr>
        <p:spPr>
          <a:xfrm>
            <a:off x="3028950" y="3175397"/>
            <a:ext cx="3783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la máscara de permisos por defecto</a:t>
            </a:r>
            <a:endParaRPr lang="en-US" sz="1425" dirty="0"/>
          </a:p>
        </p:txBody>
      </p:sp>
      <p:sp>
        <p:nvSpPr>
          <p:cNvPr id="31" name="Shape 26"/>
          <p:cNvSpPr/>
          <p:nvPr/>
        </p:nvSpPr>
        <p:spPr>
          <a:xfrm>
            <a:off x="6827639" y="3461147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2" name="Text 27"/>
          <p:cNvSpPr/>
          <p:nvPr/>
        </p:nvSpPr>
        <p:spPr>
          <a:xfrm>
            <a:off x="6960989" y="3175397"/>
            <a:ext cx="36888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umask [máscara]</a:t>
            </a:r>
            <a:endParaRPr lang="en-US" sz="1425" dirty="0"/>
          </a:p>
        </p:txBody>
      </p:sp>
      <p:sp>
        <p:nvSpPr>
          <p:cNvPr id="33" name="Shape 28"/>
          <p:cNvSpPr/>
          <p:nvPr/>
        </p:nvSpPr>
        <p:spPr>
          <a:xfrm>
            <a:off x="1524000" y="3470672"/>
            <a:ext cx="137160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Shape 29"/>
          <p:cNvSpPr/>
          <p:nvPr/>
        </p:nvSpPr>
        <p:spPr>
          <a:xfrm>
            <a:off x="1524000" y="40421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5" name="Text 30"/>
          <p:cNvSpPr/>
          <p:nvPr/>
        </p:nvSpPr>
        <p:spPr>
          <a:xfrm>
            <a:off x="1657350" y="3546872"/>
            <a:ext cx="1181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</a:t>
            </a:r>
            <a:endParaRPr lang="en-US" sz="1425" dirty="0"/>
          </a:p>
        </p:txBody>
      </p:sp>
      <p:sp>
        <p:nvSpPr>
          <p:cNvPr id="36" name="Shape 31"/>
          <p:cNvSpPr/>
          <p:nvPr/>
        </p:nvSpPr>
        <p:spPr>
          <a:xfrm>
            <a:off x="2895600" y="3470672"/>
            <a:ext cx="3932039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Shape 32"/>
          <p:cNvSpPr/>
          <p:nvPr/>
        </p:nvSpPr>
        <p:spPr>
          <a:xfrm>
            <a:off x="2895600" y="4042172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3"/>
          <p:cNvSpPr/>
          <p:nvPr/>
        </p:nvSpPr>
        <p:spPr>
          <a:xfrm>
            <a:off x="3028950" y="3546872"/>
            <a:ext cx="3783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una cuenta de usuario</a:t>
            </a:r>
            <a:endParaRPr lang="en-US" sz="1425" dirty="0"/>
          </a:p>
        </p:txBody>
      </p:sp>
      <p:sp>
        <p:nvSpPr>
          <p:cNvPr id="39" name="Shape 34"/>
          <p:cNvSpPr/>
          <p:nvPr/>
        </p:nvSpPr>
        <p:spPr>
          <a:xfrm>
            <a:off x="6827639" y="3470672"/>
            <a:ext cx="3840361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0" name="Shape 35"/>
          <p:cNvSpPr/>
          <p:nvPr/>
        </p:nvSpPr>
        <p:spPr>
          <a:xfrm>
            <a:off x="6827639" y="4042172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6960989" y="3546872"/>
            <a:ext cx="36888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 [-m] [-c "com"] [-g grupo] [-d home] [-s shell] usuario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1524000" y="44136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1657350" y="41278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userdel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2895600" y="4413647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5" name="Text 40"/>
          <p:cNvSpPr/>
          <p:nvPr/>
        </p:nvSpPr>
        <p:spPr>
          <a:xfrm>
            <a:off x="3028950" y="4127897"/>
            <a:ext cx="3783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una cuenta; -r borra su home</a:t>
            </a:r>
            <a:endParaRPr lang="en-US" sz="1425" dirty="0"/>
          </a:p>
        </p:txBody>
      </p:sp>
      <p:sp>
        <p:nvSpPr>
          <p:cNvPr id="46" name="Shape 41"/>
          <p:cNvSpPr/>
          <p:nvPr/>
        </p:nvSpPr>
        <p:spPr>
          <a:xfrm>
            <a:off x="6827639" y="4413647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7" name="Text 42"/>
          <p:cNvSpPr/>
          <p:nvPr/>
        </p:nvSpPr>
        <p:spPr>
          <a:xfrm>
            <a:off x="6960989" y="4127897"/>
            <a:ext cx="36888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userdel [-r] usuario</a:t>
            </a:r>
            <a:endParaRPr lang="en-US" sz="1425" dirty="0"/>
          </a:p>
        </p:txBody>
      </p:sp>
      <p:sp>
        <p:nvSpPr>
          <p:cNvPr id="48" name="Shape 43"/>
          <p:cNvSpPr/>
          <p:nvPr/>
        </p:nvSpPr>
        <p:spPr>
          <a:xfrm>
            <a:off x="1524000" y="4423172"/>
            <a:ext cx="1371600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9" name="Shape 44"/>
          <p:cNvSpPr/>
          <p:nvPr/>
        </p:nvSpPr>
        <p:spPr>
          <a:xfrm>
            <a:off x="1524000" y="499467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0" name="Text 45"/>
          <p:cNvSpPr/>
          <p:nvPr/>
        </p:nvSpPr>
        <p:spPr>
          <a:xfrm>
            <a:off x="1657350" y="4499372"/>
            <a:ext cx="1181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usermod</a:t>
            </a:r>
            <a:endParaRPr lang="en-US" sz="1425" dirty="0"/>
          </a:p>
        </p:txBody>
      </p:sp>
      <p:sp>
        <p:nvSpPr>
          <p:cNvPr id="51" name="Shape 46"/>
          <p:cNvSpPr/>
          <p:nvPr/>
        </p:nvSpPr>
        <p:spPr>
          <a:xfrm>
            <a:off x="2895600" y="4423172"/>
            <a:ext cx="3932039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2" name="Shape 47"/>
          <p:cNvSpPr/>
          <p:nvPr/>
        </p:nvSpPr>
        <p:spPr>
          <a:xfrm>
            <a:off x="2895600" y="4994672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3028950" y="4499372"/>
            <a:ext cx="3783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 los atributos de una cuenta</a:t>
            </a:r>
            <a:endParaRPr lang="en-US" sz="1425" dirty="0"/>
          </a:p>
        </p:txBody>
      </p:sp>
      <p:sp>
        <p:nvSpPr>
          <p:cNvPr id="54" name="Shape 49"/>
          <p:cNvSpPr/>
          <p:nvPr/>
        </p:nvSpPr>
        <p:spPr>
          <a:xfrm>
            <a:off x="6827639" y="4423172"/>
            <a:ext cx="3840361" cy="58102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5" name="Shape 50"/>
          <p:cNvSpPr/>
          <p:nvPr/>
        </p:nvSpPr>
        <p:spPr>
          <a:xfrm>
            <a:off x="6827639" y="4994672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6" name="Text 51"/>
          <p:cNvSpPr/>
          <p:nvPr/>
        </p:nvSpPr>
        <p:spPr>
          <a:xfrm>
            <a:off x="6960989" y="4499372"/>
            <a:ext cx="36888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usermod [-g grupo] [-d home] [-s shell] usuario</a:t>
            </a:r>
            <a:endParaRPr lang="en-US" sz="1425" dirty="0"/>
          </a:p>
        </p:txBody>
      </p:sp>
      <p:sp>
        <p:nvSpPr>
          <p:cNvPr id="57" name="Shape 52"/>
          <p:cNvSpPr/>
          <p:nvPr/>
        </p:nvSpPr>
        <p:spPr>
          <a:xfrm>
            <a:off x="1524000" y="5366147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8" name="Text 53"/>
          <p:cNvSpPr/>
          <p:nvPr/>
        </p:nvSpPr>
        <p:spPr>
          <a:xfrm>
            <a:off x="1657350" y="5080397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whereis</a:t>
            </a:r>
            <a:endParaRPr lang="en-US" sz="1425" dirty="0"/>
          </a:p>
        </p:txBody>
      </p:sp>
      <p:sp>
        <p:nvSpPr>
          <p:cNvPr id="59" name="Shape 54"/>
          <p:cNvSpPr/>
          <p:nvPr/>
        </p:nvSpPr>
        <p:spPr>
          <a:xfrm>
            <a:off x="2895600" y="5366147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0" name="Text 55"/>
          <p:cNvSpPr/>
          <p:nvPr/>
        </p:nvSpPr>
        <p:spPr>
          <a:xfrm>
            <a:off x="3028950" y="5080397"/>
            <a:ext cx="3783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 binario, fuentes y manual</a:t>
            </a:r>
            <a:endParaRPr lang="en-US" sz="1425" dirty="0"/>
          </a:p>
        </p:txBody>
      </p:sp>
      <p:sp>
        <p:nvSpPr>
          <p:cNvPr id="61" name="Shape 56"/>
          <p:cNvSpPr/>
          <p:nvPr/>
        </p:nvSpPr>
        <p:spPr>
          <a:xfrm>
            <a:off x="6827639" y="5366147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2" name="Text 57"/>
          <p:cNvSpPr/>
          <p:nvPr/>
        </p:nvSpPr>
        <p:spPr>
          <a:xfrm>
            <a:off x="6960989" y="5080397"/>
            <a:ext cx="36888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whereis comando</a:t>
            </a:r>
            <a:endParaRPr lang="en-US" sz="1425" dirty="0"/>
          </a:p>
        </p:txBody>
      </p:sp>
      <p:sp>
        <p:nvSpPr>
          <p:cNvPr id="63" name="Shape 58"/>
          <p:cNvSpPr/>
          <p:nvPr/>
        </p:nvSpPr>
        <p:spPr>
          <a:xfrm>
            <a:off x="1524000" y="5375672"/>
            <a:ext cx="1371600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4" name="Shape 59"/>
          <p:cNvSpPr/>
          <p:nvPr/>
        </p:nvSpPr>
        <p:spPr>
          <a:xfrm>
            <a:off x="1524000" y="5737622"/>
            <a:ext cx="13716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5" name="Text 60"/>
          <p:cNvSpPr/>
          <p:nvPr/>
        </p:nvSpPr>
        <p:spPr>
          <a:xfrm>
            <a:off x="1657350" y="5451872"/>
            <a:ext cx="1181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</a:t>
            </a:r>
            <a:endParaRPr lang="en-US" sz="1425" dirty="0"/>
          </a:p>
        </p:txBody>
      </p:sp>
      <p:sp>
        <p:nvSpPr>
          <p:cNvPr id="66" name="Shape 61"/>
          <p:cNvSpPr/>
          <p:nvPr/>
        </p:nvSpPr>
        <p:spPr>
          <a:xfrm>
            <a:off x="2895600" y="5375672"/>
            <a:ext cx="3932039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7" name="Shape 62"/>
          <p:cNvSpPr/>
          <p:nvPr/>
        </p:nvSpPr>
        <p:spPr>
          <a:xfrm>
            <a:off x="2895600" y="5737622"/>
            <a:ext cx="3932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68" name="Text 63"/>
          <p:cNvSpPr/>
          <p:nvPr/>
        </p:nvSpPr>
        <p:spPr>
          <a:xfrm>
            <a:off x="3028950" y="5451872"/>
            <a:ext cx="37833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la ruta completa de un ejecutable</a:t>
            </a:r>
            <a:endParaRPr lang="en-US" sz="1425" dirty="0"/>
          </a:p>
        </p:txBody>
      </p:sp>
      <p:sp>
        <p:nvSpPr>
          <p:cNvPr id="69" name="Shape 64"/>
          <p:cNvSpPr/>
          <p:nvPr/>
        </p:nvSpPr>
        <p:spPr>
          <a:xfrm>
            <a:off x="6827639" y="5375672"/>
            <a:ext cx="3840361" cy="3714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0" name="Shape 65"/>
          <p:cNvSpPr/>
          <p:nvPr/>
        </p:nvSpPr>
        <p:spPr>
          <a:xfrm>
            <a:off x="6827639" y="5737622"/>
            <a:ext cx="38403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71" name="Text 66"/>
          <p:cNvSpPr/>
          <p:nvPr/>
        </p:nvSpPr>
        <p:spPr>
          <a:xfrm>
            <a:off x="6960989" y="5451872"/>
            <a:ext cx="368887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comando</a:t>
            </a:r>
            <a:endParaRPr lang="en-US" sz="1425" dirty="0"/>
          </a:p>
        </p:txBody>
      </p:sp>
      <p:sp>
        <p:nvSpPr>
          <p:cNvPr id="72" name="Text 67"/>
          <p:cNvSpPr/>
          <p:nvPr/>
        </p:nvSpPr>
        <p:spPr>
          <a:xfrm>
            <a:off x="1524000" y="6165205"/>
            <a:ext cx="79111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referencia de comandos Linux; Wiki de GUTL, «Más de 400 comandos para GNU/Linux».</a:t>
            </a:r>
            <a:endParaRPr lang="en-US" sz="1200" dirty="0"/>
          </a:p>
        </p:txBody>
      </p:sp>
      <p:sp>
        <p:nvSpPr>
          <p:cNvPr id="73" name="Text 6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2610" b="1261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1156692"/>
            <a:ext cx="3325862" cy="23595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78203" y="3270647"/>
            <a:ext cx="5123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Linux · archivos, directorios, usuarios y grupos</a:t>
            </a:r>
            <a:endParaRPr lang="en-US" sz="1425" dirty="0"/>
          </a:p>
        </p:txBody>
      </p:sp>
      <p:sp>
        <p:nvSpPr>
          <p:cNvPr id="5" name="Text 1"/>
          <p:cNvSpPr/>
          <p:nvPr/>
        </p:nvSpPr>
        <p:spPr>
          <a:xfrm>
            <a:off x="3778203" y="3638252"/>
            <a:ext cx="5123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909"/>
              </a:lnSpc>
              <a:buNone/>
            </a:pPr>
            <a:r>
              <a:rPr lang="en-US" sz="142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Ing. Angelmiro Quiroz Parra</a:t>
            </a:r>
            <a:endParaRPr lang="en-US" sz="1425" dirty="0"/>
          </a:p>
        </p:txBody>
      </p:sp>
      <p:sp>
        <p:nvSpPr>
          <p:cNvPr id="6" name="Text 2"/>
          <p:cNvSpPr/>
          <p:nvPr/>
        </p:nvSpPr>
        <p:spPr>
          <a:xfrm>
            <a:off x="3778203" y="3891558"/>
            <a:ext cx="5123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909"/>
              </a:lnSpc>
              <a:buNone/>
            </a:pPr>
            <a:r>
              <a:rPr lang="en-US" sz="1425" dirty="0">
                <a:solidFill>
                  <a:srgbClr val="0C4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aparra19@udi.edu.co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2026-09-28T22:21:02Z</dcterms:created>
  <dcterms:modified xsi:type="dcterms:W3CDTF">2026-09-28T22:21:02Z</dcterms:modified>
</cp:coreProperties>
</file>